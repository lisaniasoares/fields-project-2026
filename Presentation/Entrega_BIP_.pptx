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2" r:id="rId10"/>
    <p:sldId id="269" r:id="rId11"/>
    <p:sldId id="266" r:id="rId12"/>
    <p:sldId id="270" r:id="rId13"/>
    <p:sldId id="271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96FAB3-AC58-5A1A-7F63-1435F2CD8BCE}" v="462" dt="2026-10-02T12:54:57.9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091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ECA02-C4E7-EA7F-0436-153E42B3C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FDB182-294A-390F-7731-6A096FB39E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8A55B5-0D1B-21E0-C8C8-2F3ED19C4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D6C58-8EF4-498A-96EF-DF57315B1F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6823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9B0C5-B61E-FBCA-64C1-C55B466B3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06584-E722-686E-2D7E-52E2111CF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547499-79A1-02F3-BA4B-E22094510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40659-15DF-1485-D770-109DAB37F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156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32A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32A4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/home/claude/deck/icons/gaspump_amber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561320" y="50749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E8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BIP × FGV — FIELD PROJECT EMAP</a:t>
            </a:r>
            <a:endParaRPr lang="en-US" sz="1300"/>
          </a:p>
        </p:txBody>
      </p:sp>
      <p:sp>
        <p:nvSpPr>
          <p:cNvPr id="6" name="Text 3"/>
          <p:cNvSpPr txBox="1"/>
          <p:nvPr/>
        </p:nvSpPr>
        <p:spPr>
          <a:xfrm>
            <a:off x="822960" y="187452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Generativa vs. Machine Learning</a:t>
            </a:r>
            <a:endParaRPr lang="en-US" sz="400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Otimizado</a:t>
            </a:r>
            <a:endParaRPr lang="en-US" sz="4000"/>
          </a:p>
        </p:txBody>
      </p:sp>
      <p:sp>
        <p:nvSpPr>
          <p:cNvPr id="8" name="Shape 5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12700">
            <a:solidFill>
              <a:srgbClr val="132A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822960" y="4343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de projeto — Fase 1 (Baseline)
</a:t>
            </a:r>
            <a:r>
              <a:rPr lang="en-US" sz="130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 Bernardo Martins, Lisânia Soares, Lucas Gabriel de Oliveira
</a:t>
            </a:r>
            <a:endParaRPr lang="en-US" sz="1300"/>
          </a:p>
        </p:txBody>
      </p:sp>
      <p:sp>
        <p:nvSpPr>
          <p:cNvPr id="10" name="Text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Project EMAP — Desafio BIP x FGV</a:t>
            </a:r>
            <a:endParaRPr lang="en-US" sz="900"/>
          </a:p>
        </p:txBody>
      </p:sp>
      <p:sp>
        <p:nvSpPr>
          <p:cNvPr id="11" name="Text 8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 o Desafio</a:t>
            </a:r>
            <a:endParaRPr lang="en-US" sz="300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se a IA Generativa consegue se aproximar de um modelo de Machine Learning otimizado em problemas de </a:t>
            </a:r>
            <a:r>
              <a:rPr lang="en-US" sz="140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precificação</a:t>
            </a:r>
            <a:r>
              <a:rPr lang="en-US" sz="14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usando uma arquitetura de agentes e mantendo o custo de tokens sob controle.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68680" y="24414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E883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~80%</a:t>
            </a:r>
            <a:endParaRPr lang="en-US" sz="2600"/>
          </a:p>
        </p:txBody>
      </p:sp>
      <p:sp>
        <p:nvSpPr>
          <p:cNvPr id="7" name="Text 5"/>
          <p:cNvSpPr txBox="1"/>
          <p:nvPr/>
        </p:nvSpPr>
        <p:spPr>
          <a:xfrm>
            <a:off x="868680" y="29535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inicial</a:t>
            </a:r>
            <a:endParaRPr lang="en-US" sz="1050"/>
          </a:p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GenAI (zero-shot)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4297680" y="233172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4526280" y="24414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E883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~99%</a:t>
            </a:r>
            <a:endParaRPr lang="en-US" sz="2600"/>
          </a:p>
        </p:txBody>
      </p:sp>
      <p:sp>
        <p:nvSpPr>
          <p:cNvPr id="10" name="Text 8"/>
          <p:cNvSpPr txBox="1"/>
          <p:nvPr/>
        </p:nvSpPr>
        <p:spPr>
          <a:xfrm>
            <a:off x="4526280" y="29535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acurácia</a:t>
            </a:r>
            <a:endParaRPr lang="en-US" sz="1050"/>
          </a:p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 otimizado)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7955280" y="233172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8183880" y="24414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E883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 p.p.</a:t>
            </a:r>
            <a:endParaRPr lang="en-US" sz="2600"/>
          </a:p>
        </p:txBody>
      </p:sp>
      <p:sp>
        <p:nvSpPr>
          <p:cNvPr id="13" name="Text 11"/>
          <p:cNvSpPr txBox="1"/>
          <p:nvPr/>
        </p:nvSpPr>
        <p:spPr>
          <a:xfrm>
            <a:off x="8183880" y="29535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 fechar com</a:t>
            </a:r>
            <a:endParaRPr lang="en-US" sz="1050"/>
          </a:p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e grafos</a:t>
            </a:r>
            <a:endParaRPr lang="en-US" sz="1050"/>
          </a:p>
        </p:txBody>
      </p:sp>
      <p:sp>
        <p:nvSpPr>
          <p:cNvPr id="14" name="Text 12"/>
          <p:cNvSpPr txBox="1"/>
          <p:nvPr/>
        </p:nvSpPr>
        <p:spPr>
          <a:xfrm>
            <a:off x="64008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3 pilares técnicos do desafio</a:t>
            </a:r>
            <a:endParaRPr lang="en-US" sz="150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68680" y="438912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0" descr="/home/claude/deck/icons/netwo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60" y="4454500"/>
            <a:ext cx="372161" cy="372161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68680" y="502920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Swarm</a:t>
            </a:r>
            <a:endParaRPr lang="en-US" sz="1300"/>
          </a:p>
        </p:txBody>
      </p:sp>
      <p:sp>
        <p:nvSpPr>
          <p:cNvPr id="19" name="Text 16"/>
          <p:cNvSpPr txBox="1"/>
          <p:nvPr/>
        </p:nvSpPr>
        <p:spPr>
          <a:xfrm>
            <a:off x="868680" y="533095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especializados que colaboram e se checam mutuamente.</a:t>
            </a:r>
            <a:endParaRPr lang="en-US" sz="1000"/>
          </a:p>
        </p:txBody>
      </p:sp>
      <p:sp>
        <p:nvSpPr>
          <p:cNvPr id="20" name="Shape 17"/>
          <p:cNvSpPr/>
          <p:nvPr/>
        </p:nvSpPr>
        <p:spPr>
          <a:xfrm>
            <a:off x="4370832" y="4160520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4599432" y="438912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1" descr="/home/claude/deck/icons/lay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812" y="4454500"/>
            <a:ext cx="372161" cy="372161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599432" y="502920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Grafos de Conhecimento</a:t>
            </a:r>
            <a:endParaRPr lang="en-US" sz="1300"/>
          </a:p>
        </p:txBody>
      </p:sp>
      <p:sp>
        <p:nvSpPr>
          <p:cNvPr id="24" name="Text 20"/>
          <p:cNvSpPr txBox="1"/>
          <p:nvPr/>
        </p:nvSpPr>
        <p:spPr>
          <a:xfrm>
            <a:off x="4599432" y="533095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estruturado (Graph-RAG), reduzindo tokens e alucinação.</a:t>
            </a:r>
            <a:endParaRPr lang="en-US" sz="1000"/>
          </a:p>
        </p:txBody>
      </p:sp>
      <p:sp>
        <p:nvSpPr>
          <p:cNvPr id="25" name="Shape 21"/>
          <p:cNvSpPr/>
          <p:nvPr/>
        </p:nvSpPr>
        <p:spPr>
          <a:xfrm>
            <a:off x="8101584" y="4160520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2"/>
          <p:cNvSpPr/>
          <p:nvPr/>
        </p:nvSpPr>
        <p:spPr>
          <a:xfrm>
            <a:off x="8330184" y="438912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2" descr="/home/claude/deck/icons/coin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564" y="4454500"/>
            <a:ext cx="372161" cy="372161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330184" y="502920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Tokenização Eficiente</a:t>
            </a:r>
            <a:endParaRPr lang="en-US" sz="1300"/>
          </a:p>
        </p:txBody>
      </p:sp>
      <p:sp>
        <p:nvSpPr>
          <p:cNvPr id="29" name="Text 24"/>
          <p:cNvSpPr txBox="1"/>
          <p:nvPr/>
        </p:nvSpPr>
        <p:spPr>
          <a:xfrm>
            <a:off x="8330184" y="533095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de contexto e cache semântico para controlar custo.</a:t>
            </a:r>
            <a:endParaRPr lang="en-US" sz="1000"/>
          </a:p>
        </p:txBody>
      </p:sp>
      <p:sp>
        <p:nvSpPr>
          <p:cNvPr id="30" name="Text 2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Project EMAP — Desafio BIP x FGV</a:t>
            </a:r>
            <a:endParaRPr lang="en-US" sz="900"/>
          </a:p>
        </p:txBody>
      </p:sp>
      <p:sp>
        <p:nvSpPr>
          <p:cNvPr id="31" name="Text 26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DE MERCADO ESCOLHIDO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Combustíveis — precificação no downstream de O&amp;G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537960" cy="4617720"/>
          </a:xfrm>
          <a:prstGeom prst="roundRect">
            <a:avLst>
              <a:gd name="adj" fmla="val 1584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14400" y="16916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este recorte</a:t>
            </a:r>
            <a:endParaRPr lang="en-US" sz="1500"/>
          </a:p>
        </p:txBody>
      </p:sp>
      <p:sp>
        <p:nvSpPr>
          <p:cNvPr id="6" name="Text 4"/>
          <p:cNvSpPr txBox="1"/>
          <p:nvPr/>
        </p:nvSpPr>
        <p:spPr>
          <a:xfrm>
            <a:off x="914400" y="2148840"/>
            <a:ext cx="5989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3333"/>
              </a:lnSpc>
              <a:spcAft>
                <a:spcPts val="2000"/>
              </a:spcAft>
              <a:buSzPct val="100000"/>
              <a:buChar char="●"/>
            </a:pPr>
            <a:r>
              <a:rPr lang="en-US" sz="12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público, real e de longa série histórica: ANP publica preços semanais desde 2004.</a:t>
            </a:r>
            <a:endParaRPr lang="en-US" sz="1200"/>
          </a:p>
          <a:p>
            <a:pPr marL="203200" indent="-203200">
              <a:lnSpc>
                <a:spcPct val="133333"/>
              </a:lnSpc>
              <a:spcAft>
                <a:spcPts val="2000"/>
              </a:spcAft>
              <a:buSzPct val="100000"/>
              <a:buChar char="●"/>
            </a:pPr>
            <a:r>
              <a:rPr lang="en-US" sz="12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onde a própria BIP já atua fortemente no Brasil e no mundo (energia e óleo &amp; gás).</a:t>
            </a:r>
            <a:endParaRPr lang="en-US" sz="1200"/>
          </a:p>
          <a:p>
            <a:pPr marL="203200" indent="-203200">
              <a:lnSpc>
                <a:spcPct val="133333"/>
              </a:lnSpc>
              <a:spcAft>
                <a:spcPts val="2000"/>
              </a:spcAft>
              <a:buSzPct val="100000"/>
              <a:buChar char="●"/>
            </a:pPr>
            <a:r>
              <a:rPr lang="en-US" sz="12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tem uma parte estruturada (tributos, custo, fórmula) e uma parte de contexto (geopolítica, câmbio, </a:t>
            </a:r>
            <a:r>
              <a:rPr lang="en-US" sz="120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greves</a:t>
            </a:r>
            <a:r>
              <a:rPr lang="en-US" sz="12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bom teste para comparar ML e </a:t>
            </a:r>
            <a:r>
              <a:rPr lang="en-US" sz="120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r>
              <a:rPr lang="en-US" sz="12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7360920" y="1463040"/>
            <a:ext cx="4160520" cy="4617720"/>
          </a:xfrm>
          <a:prstGeom prst="roundRect">
            <a:avLst>
              <a:gd name="adj" fmla="val 1758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635240" y="1737360"/>
            <a:ext cx="502920" cy="502920"/>
          </a:xfrm>
          <a:prstGeom prst="ellipse">
            <a:avLst/>
          </a:prstGeom>
          <a:solidFill>
            <a:srgbClr val="E8833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/home/claude/deck/icons/industry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620" y="1802740"/>
            <a:ext cx="372161" cy="37216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7532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Clientes BIP no setor</a:t>
            </a:r>
            <a:endParaRPr lang="en-US" sz="1350"/>
          </a:p>
        </p:txBody>
      </p:sp>
      <p:sp>
        <p:nvSpPr>
          <p:cNvPr id="11" name="Text 8"/>
          <p:cNvSpPr txBox="1"/>
          <p:nvPr/>
        </p:nvSpPr>
        <p:spPr>
          <a:xfrm>
            <a:off x="7635240" y="242316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Petrobras · Ipiranga · Ultragaz · TBG · Ecopetrol · Shell · Galp · BP · Repsol · Cepsa · Enagás · Enel · Iberdrola</a:t>
            </a:r>
            <a:endParaRPr lang="en-US" sz="1150"/>
          </a:p>
        </p:txBody>
      </p:sp>
      <p:sp>
        <p:nvSpPr>
          <p:cNvPr id="12" name="Shape 9"/>
          <p:cNvSpPr/>
          <p:nvPr/>
        </p:nvSpPr>
        <p:spPr>
          <a:xfrm>
            <a:off x="7635240" y="3977640"/>
            <a:ext cx="3611880" cy="0"/>
          </a:xfrm>
          <a:prstGeom prst="line">
            <a:avLst/>
          </a:prstGeom>
          <a:noFill/>
          <a:ln w="12700">
            <a:solidFill>
              <a:srgbClr val="132A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Project EMAP — Desafio BIP x FGV</a:t>
            </a:r>
            <a:endParaRPr lang="en-US" sz="900"/>
          </a:p>
        </p:txBody>
      </p:sp>
      <p:sp>
        <p:nvSpPr>
          <p:cNvPr id="15" name="Text 12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MERCADO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se forma o preço na bomba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371600" y="2404872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deck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923" y="2476195"/>
            <a:ext cx="405994" cy="405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108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Brent + Câmbio</a:t>
            </a:r>
            <a:endParaRPr lang="en-US" sz="1250"/>
          </a:p>
        </p:txBody>
      </p:sp>
      <p:sp>
        <p:nvSpPr>
          <p:cNvPr id="8" name="Text 5"/>
          <p:cNvSpPr txBox="1"/>
          <p:nvPr/>
        </p:nvSpPr>
        <p:spPr>
          <a:xfrm>
            <a:off x="777240" y="36576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Cotação internacional (US$/barril) e USD/BRL</a:t>
            </a:r>
            <a:endParaRPr lang="en-US" sz="950"/>
          </a:p>
        </p:txBody>
      </p:sp>
      <p:sp>
        <p:nvSpPr>
          <p:cNvPr id="9" name="Text 6"/>
          <p:cNvSpPr txBox="1"/>
          <p:nvPr/>
        </p:nvSpPr>
        <p:spPr>
          <a:xfrm>
            <a:off x="2660904" y="30175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10" name="Shape 7"/>
          <p:cNvSpPr/>
          <p:nvPr/>
        </p:nvSpPr>
        <p:spPr>
          <a:xfrm>
            <a:off x="2907792" y="214884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639312" y="2404872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/home/claude/deck/icons/industr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0635" y="2476195"/>
            <a:ext cx="405994" cy="40599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44952" y="3108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Preço de Realização</a:t>
            </a:r>
            <a:endParaRPr lang="en-US" sz="1250"/>
          </a:p>
        </p:txBody>
      </p:sp>
      <p:sp>
        <p:nvSpPr>
          <p:cNvPr id="14" name="Text 10"/>
          <p:cNvSpPr txBox="1"/>
          <p:nvPr/>
        </p:nvSpPr>
        <p:spPr>
          <a:xfrm>
            <a:off x="3044952" y="36576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venda da Petrobras/refinarias às distribuidoras</a:t>
            </a:r>
            <a:endParaRPr lang="en-US" sz="950"/>
          </a:p>
        </p:txBody>
      </p:sp>
      <p:sp>
        <p:nvSpPr>
          <p:cNvPr id="15" name="Text 11"/>
          <p:cNvSpPr txBox="1"/>
          <p:nvPr/>
        </p:nvSpPr>
        <p:spPr>
          <a:xfrm>
            <a:off x="4928616" y="30175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16" name="Shape 12"/>
          <p:cNvSpPr/>
          <p:nvPr/>
        </p:nvSpPr>
        <p:spPr>
          <a:xfrm>
            <a:off x="5175504" y="214884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5907024" y="2404872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2" descr="/home/claude/deck/icons/balanc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8347" y="2476195"/>
            <a:ext cx="405994" cy="40599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12664" y="3108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Tributos</a:t>
            </a:r>
            <a:endParaRPr lang="en-US" sz="1250"/>
          </a:p>
        </p:txBody>
      </p:sp>
      <p:sp>
        <p:nvSpPr>
          <p:cNvPr id="20" name="Text 15"/>
          <p:cNvSpPr txBox="1"/>
          <p:nvPr/>
        </p:nvSpPr>
        <p:spPr>
          <a:xfrm>
            <a:off x="5312664" y="36576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PIS/Cofins, CIDE (federais) e ICMS (estadual)</a:t>
            </a:r>
            <a:endParaRPr lang="en-US" sz="950"/>
          </a:p>
        </p:txBody>
      </p:sp>
      <p:sp>
        <p:nvSpPr>
          <p:cNvPr id="21" name="Text 16"/>
          <p:cNvSpPr txBox="1"/>
          <p:nvPr/>
        </p:nvSpPr>
        <p:spPr>
          <a:xfrm>
            <a:off x="7196328" y="30175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22" name="Shape 17"/>
          <p:cNvSpPr/>
          <p:nvPr/>
        </p:nvSpPr>
        <p:spPr>
          <a:xfrm>
            <a:off x="7443216" y="214884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18"/>
          <p:cNvSpPr/>
          <p:nvPr/>
        </p:nvSpPr>
        <p:spPr>
          <a:xfrm>
            <a:off x="8174736" y="2404872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3" descr="/home/claude/deck/icons/tru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6059" y="2476195"/>
            <a:ext cx="405994" cy="40599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80376" y="3108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Distribuição</a:t>
            </a:r>
            <a:endParaRPr lang="en-US" sz="1250"/>
          </a:p>
        </p:txBody>
      </p:sp>
      <p:sp>
        <p:nvSpPr>
          <p:cNvPr id="26" name="Text 20"/>
          <p:cNvSpPr txBox="1"/>
          <p:nvPr/>
        </p:nvSpPr>
        <p:spPr>
          <a:xfrm>
            <a:off x="7580376" y="36576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Frete e margem do distribuidor/bandeira</a:t>
            </a:r>
            <a:endParaRPr lang="en-US" sz="950"/>
          </a:p>
        </p:txBody>
      </p:sp>
      <p:sp>
        <p:nvSpPr>
          <p:cNvPr id="27" name="Text 21"/>
          <p:cNvSpPr txBox="1"/>
          <p:nvPr/>
        </p:nvSpPr>
        <p:spPr>
          <a:xfrm>
            <a:off x="9464040" y="30175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/>
          </a:p>
        </p:txBody>
      </p:sp>
      <p:sp>
        <p:nvSpPr>
          <p:cNvPr id="28" name="Shape 22"/>
          <p:cNvSpPr/>
          <p:nvPr/>
        </p:nvSpPr>
        <p:spPr>
          <a:xfrm>
            <a:off x="9710928" y="214884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3"/>
          <p:cNvSpPr/>
          <p:nvPr/>
        </p:nvSpPr>
        <p:spPr>
          <a:xfrm>
            <a:off x="10442448" y="2404872"/>
            <a:ext cx="548640" cy="548640"/>
          </a:xfrm>
          <a:prstGeom prst="ellipse">
            <a:avLst/>
          </a:prstGeom>
          <a:solidFill>
            <a:srgbClr val="E8833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0" name="Image 4" descr="/home/claude/deck/icons/gaspump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3771" y="2476195"/>
            <a:ext cx="405994" cy="40599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48088" y="3108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Margem do Posto</a:t>
            </a:r>
            <a:endParaRPr lang="en-US" sz="1250"/>
          </a:p>
        </p:txBody>
      </p:sp>
      <p:sp>
        <p:nvSpPr>
          <p:cNvPr id="32" name="Text 25"/>
          <p:cNvSpPr txBox="1"/>
          <p:nvPr/>
        </p:nvSpPr>
        <p:spPr>
          <a:xfrm>
            <a:off x="9848088" y="36576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Revenda ao consumidor final — preço na bomba</a:t>
            </a:r>
            <a:endParaRPr lang="en-US" sz="950"/>
          </a:p>
        </p:txBody>
      </p:sp>
      <p:sp>
        <p:nvSpPr>
          <p:cNvPr id="33" name="Shape 26"/>
          <p:cNvSpPr/>
          <p:nvPr/>
        </p:nvSpPr>
        <p:spPr>
          <a:xfrm>
            <a:off x="640080" y="48006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27"/>
          <p:cNvSpPr txBox="1"/>
          <p:nvPr/>
        </p:nvSpPr>
        <p:spPr>
          <a:xfrm>
            <a:off x="914400" y="49834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para o projeto:  </a:t>
            </a:r>
            <a:r>
              <a:rPr lang="en-US" sz="12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primeiras etapas têm forte componente de contexto externo não estruturado (notícias, decisões da OPEP+, choques </a:t>
            </a:r>
            <a:r>
              <a:rPr lang="en-US" sz="120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cambiais</a:t>
            </a:r>
            <a:r>
              <a:rPr lang="en-US" sz="12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é aí que a GenAI tem mais chance de agregar. As duas últimas são mais estruturadas e regrades, domínio natural do ML otimizado.</a:t>
            </a:r>
            <a:endParaRPr lang="en-US" sz="1200"/>
          </a:p>
        </p:txBody>
      </p:sp>
      <p:sp>
        <p:nvSpPr>
          <p:cNvPr id="35" name="Text 2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Project EMAP — Desafio BIP x FGV</a:t>
            </a:r>
            <a:endParaRPr lang="en-US" sz="900"/>
          </a:p>
        </p:txBody>
      </p:sp>
      <p:sp>
        <p:nvSpPr>
          <p:cNvPr id="36" name="Text 29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Vantagens e desvantagens de cada modelo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deck/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" y="1945843"/>
            <a:ext cx="405994" cy="405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47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 Otimizado</a:t>
            </a:r>
            <a:endParaRPr lang="en-US" sz="1600"/>
          </a:p>
        </p:txBody>
      </p:sp>
      <p:sp>
        <p:nvSpPr>
          <p:cNvPr id="8" name="Text 5"/>
          <p:cNvSpPr txBox="1"/>
          <p:nvPr/>
        </p:nvSpPr>
        <p:spPr>
          <a:xfrm>
            <a:off x="1600200" y="2258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1050"/>
          </a:p>
        </p:txBody>
      </p:sp>
      <p:sp>
        <p:nvSpPr>
          <p:cNvPr id="9" name="Text 6"/>
          <p:cNvSpPr txBox="1"/>
          <p:nvPr/>
        </p:nvSpPr>
        <p:spPr>
          <a:xfrm>
            <a:off x="914400" y="274320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6364"/>
              </a:lnSpc>
              <a:spcAft>
                <a:spcPts val="1600"/>
              </a:spcAft>
              <a:buSzPct val="100000"/>
              <a:buChar char="●"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muito bem padrões históricos e sazonalidade (ex.: alta em rodovias no verão).</a:t>
            </a:r>
            <a:endParaRPr lang="en-US" sz="1100"/>
          </a:p>
          <a:p>
            <a:pPr marL="203200" indent="-203200">
              <a:lnSpc>
                <a:spcPct val="136364"/>
              </a:lnSpc>
              <a:spcAft>
                <a:spcPts val="1600"/>
              </a:spcAft>
              <a:buSzPct val="100000"/>
              <a:buChar char="●"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a relação tributária estruturada, já que boa parte da fórmula é conhecida.</a:t>
            </a:r>
            <a:endParaRPr lang="en-US" sz="1100"/>
          </a:p>
          <a:p>
            <a:pPr marL="203200" indent="-203200">
              <a:lnSpc>
                <a:spcPct val="136364"/>
              </a:lnSpc>
              <a:spcAft>
                <a:spcPts val="1600"/>
              </a:spcAft>
              <a:buSzPct val="100000"/>
              <a:buChar char="●"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custo e altíssima velocidade de inferência.</a:t>
            </a:r>
            <a:endParaRPr lang="en-US" sz="1100"/>
          </a:p>
          <a:p>
            <a:pPr marL="203200" indent="-203200">
              <a:lnSpc>
                <a:spcPct val="136364"/>
              </a:lnSpc>
              <a:spcAft>
                <a:spcPts val="1600"/>
              </a:spcAft>
              <a:buSzPct val="100000"/>
              <a:buChar char="●"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Limite: reage mal a eventos novos e não estruturados (uma greve, uma crise cambial repentina).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E8833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/home/claude/deck/icons/robo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283" y="1945843"/>
            <a:ext cx="405994" cy="40599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23760" y="1947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Generativa + Agentes</a:t>
            </a:r>
            <a:endParaRPr lang="en-US" sz="1600"/>
          </a:p>
        </p:txBody>
      </p:sp>
      <p:sp>
        <p:nvSpPr>
          <p:cNvPr id="14" name="Text 10"/>
          <p:cNvSpPr txBox="1"/>
          <p:nvPr/>
        </p:nvSpPr>
        <p:spPr>
          <a:xfrm>
            <a:off x="7223760" y="22585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(GPT-4, Claude, Gemini) + Agent Swarm</a:t>
            </a:r>
            <a:endParaRPr lang="en-US" sz="1050"/>
          </a:p>
        </p:txBody>
      </p:sp>
      <p:sp>
        <p:nvSpPr>
          <p:cNvPr id="15" name="Text 11"/>
          <p:cNvSpPr txBox="1"/>
          <p:nvPr/>
        </p:nvSpPr>
        <p:spPr>
          <a:xfrm>
            <a:off x="6537960" y="274320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6364"/>
              </a:lnSpc>
              <a:spcAft>
                <a:spcPts val="1600"/>
              </a:spcAft>
              <a:buSzPct val="100000"/>
              <a:buChar char="●"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notícias, decisões da OPEP+, crises cambiais e </a:t>
            </a:r>
            <a:r>
              <a:rPr lang="en-US" sz="110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greves</a:t>
            </a: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não estruturado.</a:t>
            </a:r>
            <a:endParaRPr lang="en-US" sz="1100"/>
          </a:p>
          <a:p>
            <a:pPr marL="203200" indent="-203200">
              <a:lnSpc>
                <a:spcPct val="136364"/>
              </a:lnSpc>
              <a:spcAft>
                <a:spcPts val="1600"/>
              </a:spcAft>
              <a:buSzPct val="100000"/>
              <a:buChar char="●"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o "porquê" de uma variação de preço, não só devolve um número.</a:t>
            </a:r>
            <a:endParaRPr lang="en-US" sz="1100"/>
          </a:p>
          <a:p>
            <a:pPr marL="203200" indent="-203200">
              <a:lnSpc>
                <a:spcPct val="136364"/>
              </a:lnSpc>
              <a:spcAft>
                <a:spcPts val="1600"/>
              </a:spcAft>
              <a:buSzPct val="100000"/>
              <a:buChar char="●"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Adapta-se a uma mudança de regra tributária sem precisar de re-treino completo.</a:t>
            </a:r>
            <a:endParaRPr lang="en-US" sz="1100"/>
          </a:p>
          <a:p>
            <a:pPr marL="203200" indent="-203200">
              <a:lnSpc>
                <a:spcPct val="136364"/>
              </a:lnSpc>
              <a:spcAft>
                <a:spcPts val="1600"/>
              </a:spcAft>
              <a:buSzPct val="100000"/>
              <a:buChar char="●"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Limite: custo por token e necessidade de checagem constante (Agente Crítico).</a:t>
            </a:r>
            <a:endParaRPr lang="en-US" sz="1100"/>
          </a:p>
        </p:txBody>
      </p:sp>
      <p:sp>
        <p:nvSpPr>
          <p:cNvPr id="16" name="Text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Project EMAP — Desafio BIP x FGV</a:t>
            </a:r>
            <a:endParaRPr lang="en-US" sz="900"/>
          </a:p>
        </p:txBody>
      </p:sp>
      <p:sp>
        <p:nvSpPr>
          <p:cNvPr id="17" name="Text 13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Fontes de dados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39227" y="1843144"/>
            <a:ext cx="3931920" cy="402336"/>
          </a:xfrm>
          <a:prstGeom prst="rect">
            <a:avLst/>
          </a:prstGeom>
          <a:solidFill>
            <a:srgbClr val="0B1F3A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48955" y="1843144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4471147" y="1843144"/>
            <a:ext cx="4434840" cy="402336"/>
          </a:xfrm>
          <a:prstGeom prst="rect">
            <a:avLst/>
          </a:prstGeom>
          <a:solidFill>
            <a:srgbClr val="0B1F3A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4580875" y="1843144"/>
            <a:ext cx="4215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8905987" y="1843144"/>
            <a:ext cx="2514600" cy="402336"/>
          </a:xfrm>
          <a:prstGeom prst="rect">
            <a:avLst/>
          </a:prstGeom>
          <a:solidFill>
            <a:srgbClr val="0B1F3A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9015715" y="1843144"/>
            <a:ext cx="2295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Granularidade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539227" y="2245480"/>
            <a:ext cx="3931920" cy="530352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48955" y="2245480"/>
            <a:ext cx="3712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 — Série Histórica de Preços de Combustíveis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471147" y="2245480"/>
            <a:ext cx="4434840" cy="530352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4580875" y="2245480"/>
            <a:ext cx="4215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médio de revenda e distribuição por posto/região (gasolina, diesel, GLP, etanol)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8905987" y="2245480"/>
            <a:ext cx="2514600" cy="530352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9015715" y="2245480"/>
            <a:ext cx="2295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Semanal, por município e bandeira, desde 2004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539227" y="2775832"/>
            <a:ext cx="39319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648955" y="2775832"/>
            <a:ext cx="3712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 — Anuário Estatístico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4471147" y="2775832"/>
            <a:ext cx="4434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4580875" y="2775832"/>
            <a:ext cx="4215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vendas por combustível e UF (participação etanol x gasolina)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8905987" y="2775832"/>
            <a:ext cx="25146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9015715" y="2775832"/>
            <a:ext cx="2295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539227" y="3214744"/>
            <a:ext cx="3931920" cy="457200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648955" y="3214744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Petrobras — Preços de realização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4471147" y="3214744"/>
            <a:ext cx="4434840" cy="457200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4580875" y="3214744"/>
            <a:ext cx="4215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de venda às distribuidoras (saída de refinaria)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8905987" y="3214744"/>
            <a:ext cx="2514600" cy="457200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 txBox="1"/>
          <p:nvPr/>
        </p:nvSpPr>
        <p:spPr>
          <a:xfrm>
            <a:off x="9015715" y="3214744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Divulgação periódica por produto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539227" y="3671944"/>
            <a:ext cx="3931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648955" y="3671944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00"/>
              </a:lnSpc>
            </a:pPr>
            <a:r>
              <a:rPr lang="en-US" sz="1050" dirty="0" err="1">
                <a:solidFill>
                  <a:srgbClr val="1F2430"/>
                </a:solidFill>
                <a:ea typeface="+mn-lt"/>
                <a:cs typeface="+mn-lt"/>
              </a:rPr>
              <a:t>Cotações</a:t>
            </a:r>
            <a:r>
              <a:rPr lang="en-US" sz="1050" dirty="0">
                <a:solidFill>
                  <a:srgbClr val="1F2430"/>
                </a:solidFill>
                <a:ea typeface="+mn-lt"/>
                <a:cs typeface="+mn-lt"/>
              </a:rPr>
              <a:t> e </a:t>
            </a:r>
            <a:r>
              <a:rPr lang="en-US" sz="1050" dirty="0" err="1">
                <a:solidFill>
                  <a:srgbClr val="1F2430"/>
                </a:solidFill>
                <a:ea typeface="+mn-lt"/>
                <a:cs typeface="+mn-lt"/>
              </a:rPr>
              <a:t>boletins</a:t>
            </a:r>
            <a:r>
              <a:rPr lang="en-US" sz="1050" dirty="0">
                <a:solidFill>
                  <a:srgbClr val="1F2430"/>
                </a:solidFill>
                <a:ea typeface="+mn-lt"/>
                <a:cs typeface="+mn-lt"/>
              </a:rPr>
              <a:t> - Banco Central do </a:t>
            </a:r>
            <a:r>
              <a:rPr lang="en-US" sz="1050" dirty="0" err="1">
                <a:solidFill>
                  <a:srgbClr val="1F2430"/>
                </a:solidFill>
                <a:ea typeface="+mn-lt"/>
                <a:cs typeface="+mn-lt"/>
              </a:rPr>
              <a:t>Brasil</a:t>
            </a:r>
            <a:endParaRPr lang="pt-BR">
              <a:ea typeface="Calibri"/>
              <a:cs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471147" y="3671944"/>
            <a:ext cx="4434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 txBox="1"/>
          <p:nvPr/>
        </p:nvSpPr>
        <p:spPr>
          <a:xfrm>
            <a:off x="4580875" y="3671944"/>
            <a:ext cx="4215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câmbio USD/BRL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8905987" y="3671944"/>
            <a:ext cx="25146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 txBox="1"/>
          <p:nvPr/>
        </p:nvSpPr>
        <p:spPr>
          <a:xfrm>
            <a:off x="9015715" y="3671944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Diária</a:t>
            </a:r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539227" y="4001128"/>
            <a:ext cx="393192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 txBox="1"/>
          <p:nvPr/>
        </p:nvSpPr>
        <p:spPr>
          <a:xfrm>
            <a:off x="648955" y="4001128"/>
            <a:ext cx="3712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ICE 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471147" y="4001128"/>
            <a:ext cx="443484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 txBox="1"/>
          <p:nvPr/>
        </p:nvSpPr>
        <p:spPr>
          <a:xfrm>
            <a:off x="4580875" y="4001128"/>
            <a:ext cx="4215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Cotação internacional do petróleo</a:t>
            </a:r>
            <a:endParaRPr lang="en-US" sz="1050"/>
          </a:p>
        </p:txBody>
      </p:sp>
      <p:sp>
        <p:nvSpPr>
          <p:cNvPr id="38" name="Shape 36"/>
          <p:cNvSpPr/>
          <p:nvPr/>
        </p:nvSpPr>
        <p:spPr>
          <a:xfrm>
            <a:off x="8905987" y="4001128"/>
            <a:ext cx="251460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 txBox="1"/>
          <p:nvPr/>
        </p:nvSpPr>
        <p:spPr>
          <a:xfrm>
            <a:off x="9015715" y="4001128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Diária</a:t>
            </a:r>
            <a:endParaRPr lang="en-US" sz="1050"/>
          </a:p>
        </p:txBody>
      </p:sp>
      <p:sp>
        <p:nvSpPr>
          <p:cNvPr id="58" name="Text 56"/>
          <p:cNvSpPr txBox="1"/>
          <p:nvPr/>
        </p:nvSpPr>
        <p:spPr>
          <a:xfrm>
            <a:off x="640080" y="4497593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fonte exige acesso a sistema interno de </a:t>
            </a:r>
            <a:r>
              <a:rPr lang="en-US" sz="1100" i="1" err="1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r>
              <a:rPr lang="en-US" sz="1100" i="1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i="1" err="1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r>
              <a:rPr lang="en-US" sz="1100" i="1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dataset pode ser montado com portais e APIs abertas do governo e de mercado).</a:t>
            </a:r>
            <a:endParaRPr lang="en-US" sz="1100"/>
          </a:p>
        </p:txBody>
      </p:sp>
      <p:sp>
        <p:nvSpPr>
          <p:cNvPr id="59" name="Text 5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Project EMAP — Desafio BIP x FGV</a:t>
            </a:r>
            <a:endParaRPr lang="en-US" sz="900"/>
          </a:p>
        </p:txBody>
      </p:sp>
      <p:sp>
        <p:nvSpPr>
          <p:cNvPr id="60" name="Text 58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ECONÔMICA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Elasticidade-preço da demanda por gasolina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743200" cy="457200"/>
          </a:xfrm>
          <a:prstGeom prst="rect">
            <a:avLst/>
          </a:prstGeom>
          <a:solidFill>
            <a:srgbClr val="0B1F3A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49808" y="150876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3383280" y="1508760"/>
            <a:ext cx="1371600" cy="457200"/>
          </a:xfrm>
          <a:prstGeom prst="rect">
            <a:avLst/>
          </a:prstGeom>
          <a:solidFill>
            <a:srgbClr val="0B1F3A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3493008" y="150876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1645920" cy="457200"/>
          </a:xfrm>
          <a:prstGeom prst="rect">
            <a:avLst/>
          </a:prstGeom>
          <a:solidFill>
            <a:srgbClr val="0B1F3A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4864608" y="150876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Gasolina — CP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6400800" y="1508760"/>
            <a:ext cx="1645920" cy="457200"/>
          </a:xfrm>
          <a:prstGeom prst="rect">
            <a:avLst/>
          </a:prstGeom>
          <a:solidFill>
            <a:srgbClr val="0B1F3A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510528" y="150876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Gasolina — LP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8046720" y="1508760"/>
            <a:ext cx="1737360" cy="457200"/>
          </a:xfrm>
          <a:prstGeom prst="rect">
            <a:avLst/>
          </a:prstGeom>
          <a:solidFill>
            <a:srgbClr val="0B1F3A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8156448" y="150876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Cruzada c/ Etanol — CP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9784080" y="1508760"/>
            <a:ext cx="1737360" cy="457200"/>
          </a:xfrm>
          <a:prstGeom prst="rect">
            <a:avLst/>
          </a:prstGeom>
          <a:solidFill>
            <a:srgbClr val="0B1F3A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9893808" y="150876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Cruzada c/ Etanol — LP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640080" y="1965960"/>
            <a:ext cx="274320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49808" y="196596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Burnquist &amp; Bacchi (2002)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3383280" y="1965960"/>
            <a:ext cx="137160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3493008" y="19659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1973–1998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4754880" y="1965960"/>
            <a:ext cx="164592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4864608" y="196596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-0,319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6400800" y="1965960"/>
            <a:ext cx="164592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6510528" y="196596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-0,227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8046720" y="1965960"/>
            <a:ext cx="173736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8156448" y="196596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9784080" y="1965960"/>
            <a:ext cx="173736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 txBox="1"/>
          <p:nvPr/>
        </p:nvSpPr>
        <p:spPr>
          <a:xfrm>
            <a:off x="9893808" y="196596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640080" y="2468880"/>
            <a:ext cx="2743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749808" y="246888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Alves &amp; Bueno (2003)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3383280" y="2468880"/>
            <a:ext cx="1371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 txBox="1"/>
          <p:nvPr/>
        </p:nvSpPr>
        <p:spPr>
          <a:xfrm>
            <a:off x="3493008" y="246888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1974–1999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4754880" y="2468880"/>
            <a:ext cx="1645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 txBox="1"/>
          <p:nvPr/>
        </p:nvSpPr>
        <p:spPr>
          <a:xfrm>
            <a:off x="4864608" y="24688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-0,092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>
          <a:xfrm>
            <a:off x="6400800" y="2468880"/>
            <a:ext cx="1645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 txBox="1"/>
          <p:nvPr/>
        </p:nvSpPr>
        <p:spPr>
          <a:xfrm>
            <a:off x="6510528" y="24688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-0,465</a:t>
            </a:r>
            <a:endParaRPr lang="en-US" sz="1100"/>
          </a:p>
        </p:txBody>
      </p:sp>
      <p:sp>
        <p:nvSpPr>
          <p:cNvPr id="36" name="Shape 34"/>
          <p:cNvSpPr/>
          <p:nvPr/>
        </p:nvSpPr>
        <p:spPr>
          <a:xfrm>
            <a:off x="8046720" y="2468880"/>
            <a:ext cx="1737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 txBox="1"/>
          <p:nvPr/>
        </p:nvSpPr>
        <p:spPr>
          <a:xfrm>
            <a:off x="8156448" y="246888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+0,230</a:t>
            </a:r>
            <a:endParaRPr lang="en-US" sz="1100"/>
          </a:p>
        </p:txBody>
      </p:sp>
      <p:sp>
        <p:nvSpPr>
          <p:cNvPr id="38" name="Shape 36"/>
          <p:cNvSpPr/>
          <p:nvPr/>
        </p:nvSpPr>
        <p:spPr>
          <a:xfrm>
            <a:off x="9784080" y="2468880"/>
            <a:ext cx="1737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 txBox="1"/>
          <p:nvPr/>
        </p:nvSpPr>
        <p:spPr>
          <a:xfrm>
            <a:off x="9893808" y="246888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+0,480</a:t>
            </a:r>
            <a:endParaRPr lang="en-US" sz="1100"/>
          </a:p>
        </p:txBody>
      </p:sp>
      <p:sp>
        <p:nvSpPr>
          <p:cNvPr id="40" name="Shape 38"/>
          <p:cNvSpPr/>
          <p:nvPr/>
        </p:nvSpPr>
        <p:spPr>
          <a:xfrm>
            <a:off x="640080" y="2971800"/>
            <a:ext cx="274320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 txBox="1"/>
          <p:nvPr/>
        </p:nvSpPr>
        <p:spPr>
          <a:xfrm>
            <a:off x="749808" y="297180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Roppa (2005)</a:t>
            </a:r>
            <a:endParaRPr lang="en-US" sz="1100"/>
          </a:p>
        </p:txBody>
      </p:sp>
      <p:sp>
        <p:nvSpPr>
          <p:cNvPr id="42" name="Shape 40"/>
          <p:cNvSpPr/>
          <p:nvPr/>
        </p:nvSpPr>
        <p:spPr>
          <a:xfrm>
            <a:off x="3383280" y="2971800"/>
            <a:ext cx="137160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 txBox="1"/>
          <p:nvPr/>
        </p:nvSpPr>
        <p:spPr>
          <a:xfrm>
            <a:off x="3493008" y="297180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1973–2003</a:t>
            </a:r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4754880" y="2971800"/>
            <a:ext cx="164592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 txBox="1"/>
          <p:nvPr/>
        </p:nvSpPr>
        <p:spPr>
          <a:xfrm>
            <a:off x="4864608" y="297180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-0,634</a:t>
            </a:r>
            <a:endParaRPr lang="en-US" sz="1100"/>
          </a:p>
        </p:txBody>
      </p:sp>
      <p:sp>
        <p:nvSpPr>
          <p:cNvPr id="46" name="Shape 44"/>
          <p:cNvSpPr/>
          <p:nvPr/>
        </p:nvSpPr>
        <p:spPr>
          <a:xfrm>
            <a:off x="6400800" y="2971800"/>
            <a:ext cx="164592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 txBox="1"/>
          <p:nvPr/>
        </p:nvSpPr>
        <p:spPr>
          <a:xfrm>
            <a:off x="6510528" y="297180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-0,315</a:t>
            </a:r>
            <a:endParaRPr lang="en-US" sz="1100"/>
          </a:p>
        </p:txBody>
      </p:sp>
      <p:sp>
        <p:nvSpPr>
          <p:cNvPr id="48" name="Shape 46"/>
          <p:cNvSpPr/>
          <p:nvPr/>
        </p:nvSpPr>
        <p:spPr>
          <a:xfrm>
            <a:off x="8046720" y="2971800"/>
            <a:ext cx="173736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 txBox="1"/>
          <p:nvPr/>
        </p:nvSpPr>
        <p:spPr>
          <a:xfrm>
            <a:off x="8156448" y="297180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+0,402</a:t>
            </a:r>
            <a:endParaRPr lang="en-US" sz="1100"/>
          </a:p>
        </p:txBody>
      </p:sp>
      <p:sp>
        <p:nvSpPr>
          <p:cNvPr id="50" name="Shape 48"/>
          <p:cNvSpPr/>
          <p:nvPr/>
        </p:nvSpPr>
        <p:spPr>
          <a:xfrm>
            <a:off x="9784080" y="2971800"/>
            <a:ext cx="173736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 txBox="1"/>
          <p:nvPr/>
        </p:nvSpPr>
        <p:spPr>
          <a:xfrm>
            <a:off x="9893808" y="297180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+0,200</a:t>
            </a:r>
            <a:endParaRPr lang="en-US" sz="1100"/>
          </a:p>
        </p:txBody>
      </p:sp>
      <p:sp>
        <p:nvSpPr>
          <p:cNvPr id="52" name="Shape 50"/>
          <p:cNvSpPr/>
          <p:nvPr/>
        </p:nvSpPr>
        <p:spPr>
          <a:xfrm>
            <a:off x="640080" y="370332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914400" y="3931920"/>
            <a:ext cx="502920" cy="502920"/>
          </a:xfrm>
          <a:prstGeom prst="ellipse">
            <a:avLst/>
          </a:prstGeom>
          <a:solidFill>
            <a:srgbClr val="E8833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4" name="Image 0" descr="/home/claude/deck/icons/char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80" y="3997300"/>
            <a:ext cx="372161" cy="372161"/>
          </a:xfrm>
          <a:prstGeom prst="rect">
            <a:avLst/>
          </a:prstGeom>
        </p:spPr>
      </p:pic>
      <p:sp>
        <p:nvSpPr>
          <p:cNvPr id="55" name="Text 52"/>
          <p:cNvSpPr txBox="1"/>
          <p:nvPr/>
        </p:nvSpPr>
        <p:spPr>
          <a:xfrm>
            <a:off x="160020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Leitura para o projeto</a:t>
            </a:r>
            <a:endParaRPr lang="en-US" sz="1400"/>
          </a:p>
        </p:txBody>
      </p:sp>
      <p:sp>
        <p:nvSpPr>
          <p:cNvPr id="56" name="Text 53"/>
          <p:cNvSpPr txBox="1"/>
          <p:nvPr/>
        </p:nvSpPr>
        <p:spPr>
          <a:xfrm>
            <a:off x="1600200" y="43891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8571"/>
              </a:lnSpc>
              <a:spcAft>
                <a:spcPts val="800"/>
              </a:spcAft>
              <a:buSzPct val="100000"/>
              <a:buChar char="●"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demanda por gasolina é historicamente inelástica no curto prazo (motoristas não reduzem consumo rapidamente) e mais elástica no longo prazo (troca de veículo, mudança de hábito).</a:t>
            </a:r>
            <a:endParaRPr lang="en-US" sz="1050"/>
          </a:p>
          <a:p>
            <a:pPr marL="203200" indent="-203200">
              <a:lnSpc>
                <a:spcPct val="128571"/>
              </a:lnSpc>
              <a:spcAft>
                <a:spcPts val="800"/>
              </a:spcAft>
              <a:buSzPct val="100000"/>
              <a:buChar char="●"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elasticidade cruzada positiva confirma: gasolina e etanol são bens substitutos — quando o etanol encarece, a demanda por gasolina aumenta, e vice-versa.</a:t>
            </a:r>
            <a:endParaRPr lang="en-US" sz="1050"/>
          </a:p>
          <a:p>
            <a:pPr marL="203200" indent="-203200">
              <a:lnSpc>
                <a:spcPct val="128571"/>
              </a:lnSpc>
              <a:spcAft>
                <a:spcPts val="800"/>
              </a:spcAft>
              <a:buSzPct val="100000"/>
              <a:buChar char="●"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justifica incluir o preço do etanol como variável explicativa tanto no modelo de ML quanto no contexto fornecido aos agentes de GenAI.</a:t>
            </a:r>
            <a:endParaRPr lang="en-US" sz="1050"/>
          </a:p>
        </p:txBody>
      </p:sp>
      <p:sp>
        <p:nvSpPr>
          <p:cNvPr id="57" name="Text 5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Project EMAP — Desafio BIP x FGV</a:t>
            </a:r>
            <a:endParaRPr lang="en-US" sz="900"/>
          </a:p>
        </p:txBody>
      </p:sp>
      <p:sp>
        <p:nvSpPr>
          <p:cNvPr id="58" name="Text 55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ECONÔMICA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Bens </a:t>
            </a:r>
            <a:r>
              <a:rPr lang="en-US" sz="3000" b="1" err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substitutos</a:t>
            </a:r>
            <a:r>
              <a:rPr lang="en-US" sz="30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</a:t>
            </a:r>
            <a:r>
              <a:rPr lang="en-US" sz="3000" b="1" err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etanol</a:t>
            </a:r>
            <a:r>
              <a:rPr lang="en-US" sz="30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x gasolina</a:t>
            </a:r>
            <a:endParaRPr lang="en-US" sz="300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carros flex, etanol e gasolina são bens substitutos diretos no ponto de venda: o consumidor escolhe o combustível comparando o preço relativo entre os dois a cada abastecimento.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E883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~70%</a:t>
            </a:r>
            <a:endParaRPr lang="en-US" sz="2400"/>
          </a:p>
        </p:txBody>
      </p:sp>
      <p:sp>
        <p:nvSpPr>
          <p:cNvPr id="7" name="Text 5"/>
          <p:cNvSpPr txBox="1"/>
          <p:nvPr/>
        </p:nvSpPr>
        <p:spPr>
          <a:xfrm>
            <a:off x="868680" y="303580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3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 clássico: etanol compensa quando custa até 70% do preço da gasoline, </a:t>
            </a:r>
            <a:r>
              <a:rPr lang="en-US" sz="1030" err="1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reflexo</a:t>
            </a:r>
            <a:r>
              <a:rPr lang="en-US" sz="103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menor densidade energética do etanol (~30% menos autonomia por litro).</a:t>
            </a:r>
            <a:endParaRPr lang="en-US" sz="1030"/>
          </a:p>
        </p:txBody>
      </p:sp>
      <p:sp>
        <p:nvSpPr>
          <p:cNvPr id="8" name="Shape 6"/>
          <p:cNvSpPr/>
          <p:nvPr/>
        </p:nvSpPr>
        <p:spPr>
          <a:xfrm>
            <a:off x="4343400" y="22860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4572000" y="2468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E883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73–75%</a:t>
            </a:r>
            <a:endParaRPr 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4572000" y="303580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3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motores flex mais novos, com injeção eletrônica calibrada, o limiar de equilíbrio </a:t>
            </a:r>
            <a:r>
              <a:rPr lang="en-US" sz="1030" err="1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</a:t>
            </a:r>
            <a:r>
              <a:rPr lang="en-US" sz="103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30" err="1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</a:t>
            </a:r>
            <a:r>
              <a:rPr lang="en-US" sz="103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"regra dos 70%" já não é universal.</a:t>
            </a:r>
            <a:endParaRPr lang="en-US" sz="103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8275320" y="2468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E883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30% → 41,5%</a:t>
            </a:r>
            <a:endParaRPr lang="en-US" sz="2400"/>
          </a:p>
        </p:txBody>
      </p:sp>
      <p:sp>
        <p:nvSpPr>
          <p:cNvPr id="13" name="Text 11"/>
          <p:cNvSpPr txBox="1"/>
          <p:nvPr/>
        </p:nvSpPr>
        <p:spPr>
          <a:xfrm>
            <a:off x="8275320" y="303580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3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etanol na frota flex variou de 19,4% (jan/23) a 30% (jan/24), com pico histórico de 41,5% (out/18), acompanhando o preço relativo (Datagro).</a:t>
            </a:r>
            <a:endParaRPr lang="en-US" sz="103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914400" y="47091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Implicação para o projeto e contraste com diesel</a:t>
            </a:r>
            <a:endParaRPr lang="en-US" sz="1350"/>
          </a:p>
        </p:txBody>
      </p:sp>
      <p:sp>
        <p:nvSpPr>
          <p:cNvPr id="16" name="Text 14"/>
          <p:cNvSpPr txBox="1"/>
          <p:nvPr/>
        </p:nvSpPr>
        <p:spPr>
          <a:xfrm>
            <a:off x="914400" y="5047488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7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fricção comportamental observada (consumidores que não trocam de combustível mesmo quando é vantajoso, por hábito ou desconhecimento) é exatamente o tipo de racional que um modelo puramente estatístico </a:t>
            </a:r>
            <a:r>
              <a:rPr lang="en-US" sz="107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</a:t>
            </a:r>
            <a:r>
              <a:rPr lang="en-US" sz="107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7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mal,mas</a:t>
            </a:r>
            <a:r>
              <a:rPr lang="en-US" sz="107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agentes de GenAI, lendo notícias e reportagens de safra, podem contextualizar melhor. Já o diesel não tem bem substituto direto no varejo (uso cativo por caminhões e ônibus), tornando sua demanda muito </a:t>
            </a:r>
            <a:r>
              <a:rPr lang="en-US" sz="107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07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7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inelástica</a:t>
            </a:r>
            <a:r>
              <a:rPr lang="en-US" sz="107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um contraponto interessante para testar a robustez do framework em diferentes regimes de elasticidade.</a:t>
            </a:r>
            <a:endParaRPr lang="en-US" sz="107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Project EMAP — Desafio BIP x FGV</a:t>
            </a:r>
            <a:endParaRPr lang="en-US" sz="900"/>
          </a:p>
        </p:txBody>
      </p:sp>
      <p:sp>
        <p:nvSpPr>
          <p:cNvPr id="18" name="Text 16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47E2D"/>
                </a:solidFill>
                <a:latin typeface="Aptos"/>
              </a:rPr>
              <a:t>PROPOSTA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091F3A"/>
                </a:solidFill>
                <a:latin typeface="Aptos"/>
              </a:rPr>
              <a:t>Como vamos utilizar o GraphRAG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533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6978"/>
                </a:solidFill>
                <a:latin typeface="Aptos"/>
              </a:rPr>
              <a:t>Transformando os dados do setor em contexto estruturado para os agentes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93392"/>
            <a:ext cx="1572768" cy="749808"/>
          </a:xfrm>
          <a:prstGeom prst="roundRect">
            <a:avLst/>
          </a:prstGeom>
          <a:solidFill>
            <a:srgbClr val="091F3A"/>
          </a:solidFill>
          <a:ln>
            <a:solidFill>
              <a:srgbClr val="09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DADOS
LIMPOS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176272"/>
            <a:ext cx="18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C6978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68296" y="1993392"/>
            <a:ext cx="1572768" cy="749808"/>
          </a:xfrm>
          <a:prstGeom prst="roundRect">
            <a:avLst/>
          </a:prstGeom>
          <a:solidFill>
            <a:srgbClr val="091F3A"/>
          </a:solidFill>
          <a:ln>
            <a:solidFill>
              <a:srgbClr val="09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ENTIDADES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207" y="2176272"/>
            <a:ext cx="18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C697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42232" y="1993392"/>
            <a:ext cx="1572768" cy="749808"/>
          </a:xfrm>
          <a:prstGeom prst="roundRect">
            <a:avLst/>
          </a:prstGeom>
          <a:solidFill>
            <a:srgbClr val="091F3A"/>
          </a:solidFill>
          <a:ln>
            <a:solidFill>
              <a:srgbClr val="09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GRAFO DE
CONHECIMENTO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24144" y="2176272"/>
            <a:ext cx="18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C697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16168" y="1993392"/>
            <a:ext cx="1572768" cy="749808"/>
          </a:xfrm>
          <a:prstGeom prst="roundRect">
            <a:avLst/>
          </a:prstGeom>
          <a:solidFill>
            <a:srgbClr val="091F3A"/>
          </a:solidFill>
          <a:ln>
            <a:solidFill>
              <a:srgbClr val="09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RECUPERAÇÃO
DAS RELAÇÕES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2176272"/>
            <a:ext cx="18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C6978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0104" y="1993392"/>
            <a:ext cx="1572768" cy="749808"/>
          </a:xfrm>
          <a:prstGeom prst="roundRect">
            <a:avLst/>
          </a:prstGeom>
          <a:solidFill>
            <a:srgbClr val="091F3A"/>
          </a:solidFill>
          <a:ln>
            <a:solidFill>
              <a:srgbClr val="09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
PARA OS AGENTES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2016" y="2176272"/>
            <a:ext cx="18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C6978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1993392"/>
            <a:ext cx="1572768" cy="749808"/>
          </a:xfrm>
          <a:prstGeom prst="roundRect">
            <a:avLst/>
          </a:prstGeom>
          <a:solidFill>
            <a:srgbClr val="F47E2D"/>
          </a:solidFill>
          <a:ln>
            <a:solidFill>
              <a:srgbClr val="F4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LLM /
PREDIÇÃO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154680"/>
            <a:ext cx="2971800" cy="2011680"/>
          </a:xfrm>
          <a:prstGeom prst="roundRect">
            <a:avLst/>
          </a:prstGeom>
          <a:solidFill>
            <a:srgbClr val="F2F4F7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64592" rIns="182880" rtlCol="0" anchor="ctr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091F3A"/>
                </a:solidFill>
                <a:latin typeface="Aptos"/>
              </a:rPr>
              <a:t>1. Construção do grafo</a:t>
            </a:r>
          </a:p>
          <a:p>
            <a:r>
              <a:rPr sz="1050">
                <a:solidFill>
                  <a:srgbClr val="14263C"/>
                </a:solidFill>
                <a:latin typeface="Aptos"/>
              </a:rPr>
              <a:t>Conectar produtos, regiões, preços, tributos, câmbio, petróleo, sazonalidade e eventos de mercado.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3154680"/>
            <a:ext cx="2971800" cy="2011680"/>
          </a:xfrm>
          <a:prstGeom prst="roundRect">
            <a:avLst/>
          </a:prstGeom>
          <a:solidFill>
            <a:srgbClr val="F2F4F7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64592" rIns="182880" rtlCol="0" anchor="ctr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091F3A"/>
                </a:solidFill>
                <a:latin typeface="Aptos"/>
              </a:rPr>
              <a:t>2. Recuperação</a:t>
            </a:r>
          </a:p>
          <a:p>
            <a:r>
              <a:rPr sz="1050">
                <a:solidFill>
                  <a:srgbClr val="14263C"/>
                </a:solidFill>
                <a:latin typeface="Aptos"/>
              </a:rPr>
              <a:t>Recuperar as entidades e relações relevantes para a pergunta ou previsão.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3154680"/>
            <a:ext cx="2971800" cy="2011680"/>
          </a:xfrm>
          <a:prstGeom prst="roundRect">
            <a:avLst/>
          </a:prstGeom>
          <a:solidFill>
            <a:srgbClr val="F2F4F7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64592" rIns="182880" rtlCol="0" anchor="ctr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091F3A"/>
                </a:solidFill>
                <a:latin typeface="Aptos"/>
              </a:rPr>
              <a:t>3. Geração</a:t>
            </a:r>
          </a:p>
          <a:p>
            <a:r>
              <a:rPr sz="1050">
                <a:solidFill>
                  <a:srgbClr val="14263C"/>
                </a:solidFill>
                <a:latin typeface="Aptos"/>
              </a:rPr>
              <a:t>Os agentes recebem o contexto estruturado para analisar, validar regras e produzir a resposta.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440680"/>
            <a:ext cx="10652760" cy="868680"/>
          </a:xfrm>
          <a:prstGeom prst="roundRect">
            <a:avLst/>
          </a:prstGeom>
          <a:solidFill>
            <a:srgbClr val="091F3A"/>
          </a:solidFill>
          <a:ln>
            <a:solidFill>
              <a:srgbClr val="09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47E2D"/>
                </a:solidFill>
                <a:latin typeface="Aptos"/>
              </a:rPr>
              <a:t>Exemplo: </a:t>
            </a:r>
            <a:r>
              <a:rPr sz="1050">
                <a:solidFill>
                  <a:srgbClr val="FFFFFF"/>
                </a:solidFill>
                <a:latin typeface="Aptos"/>
              </a:rPr>
              <a:t>“Por que o preço da gasolina aumentou em determinada região?” → recuperar preço, região, câmbio, petróleo, tributos e eventos relacionados.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464808"/>
            <a:ext cx="2780169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5B6675"/>
                </a:solidFill>
              </a:rPr>
              <a:t>Field Project EMAP — </a:t>
            </a:r>
            <a:r>
              <a:rPr lang="en-US" sz="900" dirty="0" err="1">
                <a:solidFill>
                  <a:srgbClr val="5B6675"/>
                </a:solidFill>
              </a:rPr>
              <a:t>Desafio</a:t>
            </a:r>
            <a:r>
              <a:rPr lang="en-US" sz="900" dirty="0">
                <a:solidFill>
                  <a:srgbClr val="5B6675"/>
                </a:solidFill>
              </a:rPr>
              <a:t> BIP x FGV</a:t>
            </a:r>
          </a:p>
          <a:p>
            <a:pPr algn="l"/>
            <a:endParaRPr sz="1050" b="0" dirty="0">
              <a:solidFill>
                <a:srgbClr val="5C69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>
                <a:solidFill>
                  <a:srgbClr val="E8833E"/>
                </a:solidFill>
                <a:latin typeface="Calibri"/>
              </a:rPr>
              <a:t>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Montserrat"/>
              </a:rPr>
              <a:t>Plano de trabalho em 4 fases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1947672"/>
            <a:ext cx="530352" cy="530352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25" y="2016617"/>
            <a:ext cx="392460" cy="3924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60604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00" b="1">
                <a:solidFill>
                  <a:srgbClr val="0B1F3A"/>
                </a:solidFill>
                <a:latin typeface="Montserrat"/>
              </a:rPr>
              <a:t>Fase 1 —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21488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>
                <a:solidFill>
                  <a:srgbClr val="1F2430"/>
                </a:solidFill>
                <a:latin typeface="Calibri"/>
              </a:rPr>
              <a:t>Modelo ML de referência (XGBoost) para o preço médio semanal por região + teste zero-shot da GenAI no mesmo problema.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0691" y="3154680"/>
            <a:ext cx="2194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8FA1B3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916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703320" y="1947672"/>
            <a:ext cx="530352" cy="530352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265" y="2016617"/>
            <a:ext cx="392460" cy="3924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703320" y="260604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00" b="1">
                <a:solidFill>
                  <a:srgbClr val="0B1F3A"/>
                </a:solidFill>
                <a:latin typeface="Montserrat"/>
              </a:rPr>
              <a:t>Fase 2 — Agentes &amp; Grafos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154680"/>
            <a:ext cx="21488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>
                <a:solidFill>
                  <a:srgbClr val="1F2430"/>
                </a:solidFill>
                <a:latin typeface="Calibri"/>
              </a:rPr>
              <a:t>Agent Swarm especializado + grafo de conhecimento do setor de combustíveis, consultado via Graph-RAG.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5332" y="3154680"/>
            <a:ext cx="2194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8FA1B3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6916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37960" y="1947672"/>
            <a:ext cx="530352" cy="530352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905" y="2016617"/>
            <a:ext cx="392460" cy="3924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37960" y="260604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00" b="1">
                <a:solidFill>
                  <a:srgbClr val="0B1F3A"/>
                </a:solidFill>
                <a:latin typeface="Montserrat"/>
              </a:rPr>
              <a:t>Fase 3 — Custo &amp; Tokens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154680"/>
            <a:ext cx="21488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>
                <a:solidFill>
                  <a:srgbClr val="1F2430"/>
                </a:solidFill>
                <a:latin typeface="Calibri"/>
              </a:rPr>
              <a:t>Otimização de custo por inferência; comparação entre LLMs proprietários e SLMs locais.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9972" y="3154680"/>
            <a:ext cx="2194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8FA1B3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6916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72600" y="1947672"/>
            <a:ext cx="530352" cy="530352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fla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1545" y="2016617"/>
            <a:ext cx="392460" cy="3924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372600" y="260604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300" b="1">
                <a:solidFill>
                  <a:srgbClr val="0B1F3A"/>
                </a:solidFill>
                <a:latin typeface="Montserrat"/>
              </a:rPr>
              <a:t>Fase 4 — Demo 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3154680"/>
            <a:ext cx="21488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50" b="0">
                <a:solidFill>
                  <a:srgbClr val="1F2430"/>
                </a:solidFill>
                <a:latin typeface="Calibri"/>
              </a:rPr>
              <a:t>Dashboard final com o comparativo ML x GenAI e recomendação de uso híbrido.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486400"/>
            <a:ext cx="10881360" cy="594360"/>
          </a:xfrm>
          <a:prstGeom prst="roundRect">
            <a:avLst>
              <a:gd name="adj" fmla="val 12307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486400"/>
            <a:ext cx="10332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500"/>
              </a:lnSpc>
            </a:pPr>
            <a:r>
              <a:rPr sz="1150" b="1">
                <a:solidFill>
                  <a:srgbClr val="E8833E"/>
                </a:solidFill>
                <a:latin typeface="Calibri"/>
              </a:rPr>
              <a:t>Nosso primeiro entregável (esta apresentação):  </a:t>
            </a:r>
            <a:r>
              <a:rPr sz="1150" b="0">
                <a:solidFill>
                  <a:srgbClr val="FFFFFF"/>
                </a:solidFill>
                <a:latin typeface="Calibri"/>
              </a:rPr>
              <a:t>escopo do recorte, dados mapeados e plano de experimentação — base para iniciar o baseline em ML.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dirty="0">
                <a:solidFill>
                  <a:srgbClr val="5B6675"/>
                </a:solidFill>
                <a:latin typeface="Calibri"/>
              </a:rPr>
              <a:t>Field Project EMAP — </a:t>
            </a:r>
            <a:r>
              <a:rPr sz="900" b="0" dirty="0" err="1">
                <a:solidFill>
                  <a:srgbClr val="5B6675"/>
                </a:solidFill>
                <a:latin typeface="Calibri"/>
              </a:rPr>
              <a:t>Desafio</a:t>
            </a:r>
            <a:r>
              <a:rPr sz="900" b="0" dirty="0">
                <a:solidFill>
                  <a:srgbClr val="5B6675"/>
                </a:solidFill>
                <a:latin typeface="Calibri"/>
              </a:rPr>
              <a:t> BIP x FGV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5B667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TÉCNICA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Arquitetura de agentes para este caso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530352" cy="530352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deck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626" y="1897746"/>
            <a:ext cx="392460" cy="392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49631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Agente Analista de Mercado</a:t>
            </a:r>
            <a:endParaRPr lang="en-US" sz="1250"/>
          </a:p>
        </p:txBody>
      </p:sp>
      <p:sp>
        <p:nvSpPr>
          <p:cNvPr id="8" name="Text 5"/>
          <p:cNvSpPr txBox="1"/>
          <p:nvPr/>
        </p:nvSpPr>
        <p:spPr>
          <a:xfrm>
            <a:off x="868680" y="292608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Brent, câmbio, notícias de oferta/demanda e eventos geopolíticos que afetam o preço.</a:t>
            </a:r>
            <a:endParaRPr lang="en-US" sz="1000"/>
          </a:p>
        </p:txBody>
      </p:sp>
      <p:sp>
        <p:nvSpPr>
          <p:cNvPr id="9" name="Shape 6"/>
          <p:cNvSpPr/>
          <p:nvPr/>
        </p:nvSpPr>
        <p:spPr>
          <a:xfrm>
            <a:off x="4370832" y="160020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99432" y="1828800"/>
            <a:ext cx="530352" cy="530352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/home/claude/deck/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378" y="1897746"/>
            <a:ext cx="392460" cy="392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9432" y="249631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Agente Validador de Regras</a:t>
            </a:r>
            <a:endParaRPr lang="en-US" sz="1250"/>
          </a:p>
        </p:txBody>
      </p:sp>
      <p:sp>
        <p:nvSpPr>
          <p:cNvPr id="13" name="Text 9"/>
          <p:cNvSpPr txBox="1"/>
          <p:nvPr/>
        </p:nvSpPr>
        <p:spPr>
          <a:xfrm>
            <a:off x="4599432" y="292608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aderência aos tributos vigentes (ICMS por UF, PIS/Cofins, CIDE) e às margens regulatórias.</a:t>
            </a:r>
            <a:endParaRPr lang="en-US" sz="1000"/>
          </a:p>
        </p:txBody>
      </p:sp>
      <p:sp>
        <p:nvSpPr>
          <p:cNvPr id="14" name="Shape 10"/>
          <p:cNvSpPr/>
          <p:nvPr/>
        </p:nvSpPr>
        <p:spPr>
          <a:xfrm>
            <a:off x="8101584" y="1600200"/>
            <a:ext cx="3502152" cy="1874520"/>
          </a:xfrm>
          <a:prstGeom prst="roundRect">
            <a:avLst>
              <a:gd name="adj" fmla="val 3902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8330184" y="1828800"/>
            <a:ext cx="530352" cy="530352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/home/claude/deck/icons/balanc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9130" y="1897746"/>
            <a:ext cx="392460" cy="392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30184" y="249631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Agente Crítico</a:t>
            </a:r>
            <a:endParaRPr lang="en-US" sz="1250"/>
          </a:p>
        </p:txBody>
      </p:sp>
      <p:sp>
        <p:nvSpPr>
          <p:cNvPr id="18" name="Text 13"/>
          <p:cNvSpPr txBox="1"/>
          <p:nvPr/>
        </p:nvSpPr>
        <p:spPr>
          <a:xfrm>
            <a:off x="8330184" y="292608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 as respostas dos demais agentes, sinaliza baixa confiança e reduz alucinação de preço.</a:t>
            </a:r>
            <a:endParaRPr lang="en-US" sz="1000"/>
          </a:p>
        </p:txBody>
      </p:sp>
      <p:sp>
        <p:nvSpPr>
          <p:cNvPr id="19" name="Shape 14"/>
          <p:cNvSpPr/>
          <p:nvPr/>
        </p:nvSpPr>
        <p:spPr>
          <a:xfrm>
            <a:off x="640080" y="374904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914400" y="3977640"/>
            <a:ext cx="530352" cy="530352"/>
          </a:xfrm>
          <a:prstGeom prst="ellipse">
            <a:avLst/>
          </a:prstGeom>
          <a:solidFill>
            <a:srgbClr val="E8833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/home/claude/deck/icons/layer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346" y="4046586"/>
            <a:ext cx="392460" cy="392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023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Grafo de Conhecimento do setor de combustíveis</a:t>
            </a:r>
            <a:endParaRPr lang="en-US" sz="1400"/>
          </a:p>
        </p:txBody>
      </p:sp>
      <p:sp>
        <p:nvSpPr>
          <p:cNvPr id="23" name="Text 17"/>
          <p:cNvSpPr txBox="1"/>
          <p:nvPr/>
        </p:nvSpPr>
        <p:spPr>
          <a:xfrm>
            <a:off x="1600200" y="44348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propostos: Produto (gasolina, diesel, GLP, etanol) · Região/UF · Bandeira/Distribuidora · Tributos · Sazonalidade · Eventos de mercado.</a:t>
            </a:r>
            <a:endParaRPr lang="en-US" sz="1150"/>
          </a:p>
          <a:p>
            <a:pPr marL="0" indent="0">
              <a:lnSpc>
                <a:spcPts val="1600"/>
              </a:lnSpc>
              <a:buNone/>
            </a:pPr>
            <a:r>
              <a:rPr lang="en-US" sz="115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agentes consultam essa estrutura via Graph-RAG em vez de receber contexto longo em texto — reduzindo tokens e erros factuais.</a:t>
            </a:r>
            <a:endParaRPr lang="en-US" sz="1150"/>
          </a:p>
        </p:txBody>
      </p:sp>
      <p:sp>
        <p:nvSpPr>
          <p:cNvPr id="24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Project EMAP — Desafio BIP x FGV</a:t>
            </a:r>
            <a:endParaRPr lang="en-US" sz="900"/>
          </a:p>
        </p:txBody>
      </p:sp>
      <p:sp>
        <p:nvSpPr>
          <p:cNvPr id="25" name="Text 19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2DCDB7-34EC-F551-78A2-828D54BE0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A0DC9B-8D45-ED79-4419-BF86328525E7}"/>
              </a:ext>
            </a:extLst>
          </p:cNvPr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TÉCNICA</a:t>
            </a:r>
            <a:endParaRPr lang="en-US"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3F6BCD2-57D0-9232-47CB-D823CE295C66}"/>
              </a:ext>
            </a:extLst>
          </p:cNvPr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 err="1">
                <a:solidFill>
                  <a:srgbClr val="0B1F3A"/>
                </a:solidFill>
                <a:latin typeface="Montserrat"/>
              </a:rPr>
              <a:t>Modelos</a:t>
            </a:r>
            <a:r>
              <a:rPr lang="en-US" sz="3000" b="1" dirty="0">
                <a:solidFill>
                  <a:srgbClr val="0B1F3A"/>
                </a:solidFill>
                <a:latin typeface="Montserrat"/>
              </a:rPr>
              <a:t> </a:t>
            </a:r>
            <a:r>
              <a:rPr lang="en-US" sz="3000" b="1" dirty="0" err="1">
                <a:solidFill>
                  <a:srgbClr val="0B1F3A"/>
                </a:solidFill>
                <a:latin typeface="Montserrat"/>
              </a:rPr>
              <a:t>Generativos</a:t>
            </a:r>
            <a:r>
              <a:rPr lang="en-US" sz="3000" b="1" dirty="0">
                <a:solidFill>
                  <a:srgbClr val="0B1F3A"/>
                </a:solidFill>
                <a:latin typeface="Montserrat"/>
              </a:rPr>
              <a:t> </a:t>
            </a:r>
            <a:r>
              <a:rPr lang="en-US" sz="3000" b="1" dirty="0" err="1">
                <a:solidFill>
                  <a:srgbClr val="0B1F3A"/>
                </a:solidFill>
                <a:latin typeface="Montserrat"/>
              </a:rPr>
              <a:t>Utilizados</a:t>
            </a:r>
            <a:endParaRPr lang="pt-BR" dirty="0" err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B455AC2-15D7-56D7-4CCE-8CBD99E1C2BB}"/>
              </a:ext>
            </a:extLst>
          </p:cNvPr>
          <p:cNvSpPr/>
          <p:nvPr/>
        </p:nvSpPr>
        <p:spPr>
          <a:xfrm>
            <a:off x="640080" y="1600200"/>
            <a:ext cx="3292002" cy="2379597"/>
          </a:xfrm>
          <a:prstGeom prst="roundRect">
            <a:avLst>
              <a:gd name="adj" fmla="val 3902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3A6B674-1C20-F5B8-E9D6-AAC3AFC91331}"/>
              </a:ext>
            </a:extLst>
          </p:cNvPr>
          <p:cNvSpPr txBox="1"/>
          <p:nvPr/>
        </p:nvSpPr>
        <p:spPr>
          <a:xfrm>
            <a:off x="939488" y="1823959"/>
            <a:ext cx="2660379" cy="457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buAutoNum type="arabicPeriod"/>
            </a:pPr>
            <a:r>
              <a:rPr lang="en-US" b="1" dirty="0">
                <a:solidFill>
                  <a:srgbClr val="0B1F3A"/>
                </a:solidFill>
                <a:latin typeface="Montserrat"/>
              </a:rPr>
              <a:t>Gemini- Google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97ACD3D4-A33A-BE26-B475-A2FB2E5FBC7C}"/>
              </a:ext>
            </a:extLst>
          </p:cNvPr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Project EMAP — Desafio BIP x FGV</a:t>
            </a:r>
            <a:endParaRPr lang="en-US" sz="90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71EF22CB-CB5F-5F6E-859E-7A0A4A0F6FD1}"/>
              </a:ext>
            </a:extLst>
          </p:cNvPr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  <p:pic>
        <p:nvPicPr>
          <p:cNvPr id="26" name="Imagem 25" descr="Google Gemini">
            <a:extLst>
              <a:ext uri="{FF2B5EF4-FFF2-40B4-BE49-F238E27FC236}">
                <a16:creationId xmlns:a16="http://schemas.microsoft.com/office/drawing/2014/main" id="{A80D73F6-C6B9-CD54-DED9-DE40AC0F6E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23" t="23516" r="19184" b="24817"/>
          <a:stretch>
            <a:fillRect/>
          </a:stretch>
        </p:blipFill>
        <p:spPr>
          <a:xfrm>
            <a:off x="1385856" y="2497982"/>
            <a:ext cx="1798733" cy="940812"/>
          </a:xfrm>
          <a:prstGeom prst="rect">
            <a:avLst/>
          </a:prstGeom>
        </p:spPr>
      </p:pic>
      <p:sp>
        <p:nvSpPr>
          <p:cNvPr id="27" name="Shape 2">
            <a:extLst>
              <a:ext uri="{FF2B5EF4-FFF2-40B4-BE49-F238E27FC236}">
                <a16:creationId xmlns:a16="http://schemas.microsoft.com/office/drawing/2014/main" id="{7980508D-69E6-3126-39FF-343179E5BD22}"/>
              </a:ext>
            </a:extLst>
          </p:cNvPr>
          <p:cNvSpPr/>
          <p:nvPr/>
        </p:nvSpPr>
        <p:spPr>
          <a:xfrm>
            <a:off x="4262341" y="1611243"/>
            <a:ext cx="3292002" cy="2379597"/>
          </a:xfrm>
          <a:prstGeom prst="roundRect">
            <a:avLst>
              <a:gd name="adj" fmla="val 3902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3A1BD970-B2BC-5923-4373-74EFE586DADB}"/>
              </a:ext>
            </a:extLst>
          </p:cNvPr>
          <p:cNvSpPr txBox="1"/>
          <p:nvPr/>
        </p:nvSpPr>
        <p:spPr>
          <a:xfrm>
            <a:off x="4561749" y="1835002"/>
            <a:ext cx="2660379" cy="457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00"/>
              </a:lnSpc>
            </a:pPr>
            <a:r>
              <a:rPr lang="en-US" b="1" dirty="0">
                <a:solidFill>
                  <a:srgbClr val="0B1F3A"/>
                </a:solidFill>
                <a:latin typeface="Montserrat"/>
              </a:rPr>
              <a:t>2.   Claude</a:t>
            </a:r>
            <a:endParaRPr lang="pt-BR" dirty="0"/>
          </a:p>
        </p:txBody>
      </p:sp>
      <p:pic>
        <p:nvPicPr>
          <p:cNvPr id="30" name="Imagem 29" descr="Claude Logo PNG Vector (SVG) Free Download">
            <a:extLst>
              <a:ext uri="{FF2B5EF4-FFF2-40B4-BE49-F238E27FC236}">
                <a16:creationId xmlns:a16="http://schemas.microsoft.com/office/drawing/2014/main" id="{6AF49862-072C-8DCA-4D29-4C72557B70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409" r="-2811" b="33468"/>
          <a:stretch>
            <a:fillRect/>
          </a:stretch>
        </p:blipFill>
        <p:spPr>
          <a:xfrm>
            <a:off x="4724400" y="2574832"/>
            <a:ext cx="2345450" cy="754037"/>
          </a:xfrm>
          <a:prstGeom prst="rect">
            <a:avLst/>
          </a:prstGeom>
        </p:spPr>
      </p:pic>
      <p:sp>
        <p:nvSpPr>
          <p:cNvPr id="31" name="Shape 2">
            <a:extLst>
              <a:ext uri="{FF2B5EF4-FFF2-40B4-BE49-F238E27FC236}">
                <a16:creationId xmlns:a16="http://schemas.microsoft.com/office/drawing/2014/main" id="{7815374F-9122-E368-FFA9-A4CF7B0F92AD}"/>
              </a:ext>
            </a:extLst>
          </p:cNvPr>
          <p:cNvSpPr/>
          <p:nvPr/>
        </p:nvSpPr>
        <p:spPr>
          <a:xfrm>
            <a:off x="7995036" y="1589156"/>
            <a:ext cx="3292002" cy="2379597"/>
          </a:xfrm>
          <a:prstGeom prst="roundRect">
            <a:avLst>
              <a:gd name="adj" fmla="val 3902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8970E273-E48E-7399-065F-D9A775DD7259}"/>
              </a:ext>
            </a:extLst>
          </p:cNvPr>
          <p:cNvSpPr txBox="1"/>
          <p:nvPr/>
        </p:nvSpPr>
        <p:spPr>
          <a:xfrm>
            <a:off x="8294444" y="1812915"/>
            <a:ext cx="2660379" cy="457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00"/>
              </a:lnSpc>
            </a:pPr>
            <a:r>
              <a:rPr lang="en-US" b="1" dirty="0">
                <a:solidFill>
                  <a:srgbClr val="0B1F3A"/>
                </a:solidFill>
                <a:latin typeface="Montserrat"/>
              </a:rPr>
              <a:t>3.   Kimi 2.5</a:t>
            </a:r>
          </a:p>
        </p:txBody>
      </p:sp>
      <p:pic>
        <p:nvPicPr>
          <p:cNvPr id="34" name="Imagem 33" descr="What Kimi K2.5 Actually Did Differently and Why It Matters">
            <a:extLst>
              <a:ext uri="{FF2B5EF4-FFF2-40B4-BE49-F238E27FC236}">
                <a16:creationId xmlns:a16="http://schemas.microsoft.com/office/drawing/2014/main" id="{EA76EB09-877C-82C2-9DCB-4D76F09803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734" r="13872" b="26654"/>
          <a:stretch>
            <a:fillRect/>
          </a:stretch>
        </p:blipFill>
        <p:spPr>
          <a:xfrm>
            <a:off x="8293652" y="2631035"/>
            <a:ext cx="2738788" cy="787159"/>
          </a:xfrm>
          <a:prstGeom prst="rect">
            <a:avLst/>
          </a:prstGeom>
        </p:spPr>
      </p:pic>
      <p:sp>
        <p:nvSpPr>
          <p:cNvPr id="38" name="Shape 2">
            <a:extLst>
              <a:ext uri="{FF2B5EF4-FFF2-40B4-BE49-F238E27FC236}">
                <a16:creationId xmlns:a16="http://schemas.microsoft.com/office/drawing/2014/main" id="{DA93FB3B-940C-4D44-376C-A2662F227B22}"/>
              </a:ext>
            </a:extLst>
          </p:cNvPr>
          <p:cNvSpPr/>
          <p:nvPr/>
        </p:nvSpPr>
        <p:spPr>
          <a:xfrm>
            <a:off x="4096688" y="4228547"/>
            <a:ext cx="3292002" cy="2379597"/>
          </a:xfrm>
          <a:prstGeom prst="roundRect">
            <a:avLst>
              <a:gd name="adj" fmla="val 3902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4039D57D-D73E-B769-63EF-6125E03694A0}"/>
              </a:ext>
            </a:extLst>
          </p:cNvPr>
          <p:cNvSpPr txBox="1"/>
          <p:nvPr/>
        </p:nvSpPr>
        <p:spPr>
          <a:xfrm>
            <a:off x="4396096" y="4452306"/>
            <a:ext cx="2660379" cy="457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00"/>
              </a:lnSpc>
            </a:pPr>
            <a:r>
              <a:rPr lang="en-US" b="1" dirty="0">
                <a:solidFill>
                  <a:srgbClr val="0B1F3A"/>
                </a:solidFill>
                <a:latin typeface="Montserrat"/>
              </a:rPr>
              <a:t>4.   ChatGPT</a:t>
            </a:r>
          </a:p>
        </p:txBody>
      </p:sp>
      <p:pic>
        <p:nvPicPr>
          <p:cNvPr id="41" name="Imagem 40" descr="A Brief History of the ChatGPT Logo - Logovent">
            <a:extLst>
              <a:ext uri="{FF2B5EF4-FFF2-40B4-BE49-F238E27FC236}">
                <a16:creationId xmlns:a16="http://schemas.microsoft.com/office/drawing/2014/main" id="{E050FD78-C571-255D-B83D-2A4E7204EAB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709" t="15029" r="-289" b="18736"/>
          <a:stretch>
            <a:fillRect/>
          </a:stretch>
        </p:blipFill>
        <p:spPr>
          <a:xfrm>
            <a:off x="4296284" y="5148763"/>
            <a:ext cx="2770592" cy="100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94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DE69D3-52CC-354E-250B-EDB96C99B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5E3C70-AF32-C8E8-204F-4C9FD118BBE9}"/>
              </a:ext>
            </a:extLst>
          </p:cNvPr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DE MERCADO ESCOLHIDO</a:t>
            </a:r>
            <a:endParaRPr lang="en-US"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03DCF9-ABC1-BC93-03F2-B2A3FE40218A}"/>
              </a:ext>
            </a:extLst>
          </p:cNvPr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0B1F3A"/>
                </a:solidFill>
                <a:latin typeface="Montserrat"/>
              </a:rPr>
              <a:t>Modelo </a:t>
            </a:r>
            <a:r>
              <a:rPr lang="en-US" sz="3000" b="1" dirty="0" err="1">
                <a:solidFill>
                  <a:srgbClr val="0B1F3A"/>
                </a:solidFill>
                <a:latin typeface="Montserrat"/>
              </a:rPr>
              <a:t>Otimizado</a:t>
            </a:r>
            <a:endParaRPr lang="pt-BR" dirty="0" err="1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DEC71A0-CD69-1E7C-F658-5B894753BB77}"/>
              </a:ext>
            </a:extLst>
          </p:cNvPr>
          <p:cNvSpPr/>
          <p:nvPr/>
        </p:nvSpPr>
        <p:spPr>
          <a:xfrm>
            <a:off x="595906" y="2059388"/>
            <a:ext cx="6537960" cy="2861807"/>
          </a:xfrm>
          <a:prstGeom prst="roundRect">
            <a:avLst>
              <a:gd name="adj" fmla="val 1584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CED5211-EE0D-C640-C83D-4517F6BC1B6F}"/>
              </a:ext>
            </a:extLst>
          </p:cNvPr>
          <p:cNvSpPr txBox="1"/>
          <p:nvPr/>
        </p:nvSpPr>
        <p:spPr>
          <a:xfrm>
            <a:off x="870226" y="2343205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 err="1">
                <a:solidFill>
                  <a:srgbClr val="0B1F3A"/>
                </a:solidFill>
                <a:latin typeface="Montserrat"/>
              </a:rPr>
              <a:t>Arquitetura</a:t>
            </a:r>
            <a:r>
              <a:rPr lang="en-US" sz="1500" b="1" dirty="0">
                <a:solidFill>
                  <a:srgbClr val="0B1F3A"/>
                </a:solidFill>
                <a:latin typeface="Montserrat"/>
              </a:rPr>
              <a:t> </a:t>
            </a:r>
            <a:r>
              <a:rPr lang="en-US" sz="1500" b="1" dirty="0" err="1">
                <a:solidFill>
                  <a:srgbClr val="0B1F3A"/>
                </a:solidFill>
                <a:latin typeface="Montserrat"/>
              </a:rPr>
              <a:t>Idealizada</a:t>
            </a:r>
            <a:endParaRPr lang="pt-BR" dirty="0" err="1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FEDE3D6-73D9-7338-F980-508E4C10C8E3}"/>
              </a:ext>
            </a:extLst>
          </p:cNvPr>
          <p:cNvSpPr txBox="1"/>
          <p:nvPr/>
        </p:nvSpPr>
        <p:spPr>
          <a:xfrm>
            <a:off x="870226" y="2822491"/>
            <a:ext cx="6022450" cy="1885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500"/>
              </a:spcAft>
              <a:buSzPct val="100000"/>
              <a:buChar char="●"/>
            </a:pPr>
            <a:r>
              <a:rPr lang="en-US" sz="1600" dirty="0">
                <a:solidFill>
                  <a:srgbClr val="1F2430"/>
                </a:solidFill>
                <a:ea typeface="Calibri"/>
                <a:cs typeface="Calibri"/>
              </a:rPr>
              <a:t>Neural Network ;</a:t>
            </a:r>
            <a:endParaRPr lang="pt-BR" dirty="0"/>
          </a:p>
          <a:p>
            <a:pPr marL="203200" indent="-203200">
              <a:spcAft>
                <a:spcPts val="1500"/>
              </a:spcAft>
              <a:buSzPct val="100000"/>
              <a:buChar char="●"/>
            </a:pPr>
            <a:r>
              <a:rPr lang="en-US" sz="1600" dirty="0">
                <a:solidFill>
                  <a:srgbClr val="1F2430"/>
                </a:solidFill>
                <a:ea typeface="Calibri"/>
                <a:cs typeface="Calibri"/>
              </a:rPr>
              <a:t>Base </a:t>
            </a:r>
            <a:r>
              <a:rPr lang="en-US" sz="1600" dirty="0" err="1">
                <a:solidFill>
                  <a:srgbClr val="1F2430"/>
                </a:solidFill>
                <a:ea typeface="Calibri"/>
                <a:cs typeface="Calibri"/>
              </a:rPr>
              <a:t>em</a:t>
            </a:r>
            <a:r>
              <a:rPr lang="en-US" sz="1600" dirty="0">
                <a:solidFill>
                  <a:srgbClr val="1F2430"/>
                </a:solidFill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1F2430"/>
                </a:solidFill>
                <a:ea typeface="Calibri"/>
                <a:cs typeface="Calibri"/>
              </a:rPr>
              <a:t>grafo</a:t>
            </a:r>
            <a:r>
              <a:rPr lang="en-US" sz="1600" dirty="0">
                <a:solidFill>
                  <a:srgbClr val="1F2430"/>
                </a:solidFill>
                <a:ea typeface="Calibri"/>
                <a:cs typeface="Calibri"/>
              </a:rPr>
              <a:t> de </a:t>
            </a:r>
            <a:r>
              <a:rPr lang="en-US" sz="1600" dirty="0" err="1">
                <a:solidFill>
                  <a:srgbClr val="1F2430"/>
                </a:solidFill>
                <a:ea typeface="Calibri"/>
                <a:cs typeface="Calibri"/>
              </a:rPr>
              <a:t>conhecimento</a:t>
            </a:r>
            <a:r>
              <a:rPr lang="en-US" sz="1600" dirty="0">
                <a:solidFill>
                  <a:srgbClr val="1F2430"/>
                </a:solidFill>
                <a:ea typeface="Calibri"/>
                <a:cs typeface="Calibri"/>
              </a:rPr>
              <a:t> – </a:t>
            </a:r>
            <a:r>
              <a:rPr lang="en-US" sz="1600" dirty="0" err="1">
                <a:solidFill>
                  <a:srgbClr val="1F2430"/>
                </a:solidFill>
                <a:ea typeface="Calibri"/>
                <a:cs typeface="Calibri"/>
              </a:rPr>
              <a:t>GraphRAG</a:t>
            </a:r>
            <a:r>
              <a:rPr lang="en-US" sz="1600" dirty="0">
                <a:solidFill>
                  <a:srgbClr val="1F2430"/>
                </a:solidFill>
                <a:ea typeface="Calibri"/>
                <a:cs typeface="Calibri"/>
              </a:rPr>
              <a:t>;</a:t>
            </a:r>
          </a:p>
          <a:p>
            <a:pPr marL="203200" indent="-203200">
              <a:spcAft>
                <a:spcPts val="1500"/>
              </a:spcAft>
              <a:buSzPct val="100000"/>
              <a:buChar char="●"/>
            </a:pPr>
            <a:r>
              <a:rPr lang="en-US" sz="1600" dirty="0">
                <a:solidFill>
                  <a:srgbClr val="1F2430"/>
                </a:solidFill>
                <a:ea typeface="Calibri"/>
                <a:cs typeface="Calibri"/>
              </a:rPr>
              <a:t>Criada para responder </a:t>
            </a:r>
            <a:r>
              <a:rPr lang="en-US" sz="1600" dirty="0" err="1">
                <a:solidFill>
                  <a:srgbClr val="1F2430"/>
                </a:solidFill>
                <a:ea typeface="Calibri"/>
                <a:cs typeface="Calibri"/>
              </a:rPr>
              <a:t>perguntas</a:t>
            </a:r>
            <a:r>
              <a:rPr lang="en-US" sz="1600" dirty="0">
                <a:solidFill>
                  <a:srgbClr val="1F2430"/>
                </a:solidFill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1F2430"/>
                </a:solidFill>
                <a:ea typeface="Calibri"/>
                <a:cs typeface="Calibri"/>
              </a:rPr>
              <a:t>preditivas</a:t>
            </a:r>
            <a:r>
              <a:rPr lang="en-US" sz="1600" dirty="0">
                <a:solidFill>
                  <a:srgbClr val="1F2430"/>
                </a:solidFill>
                <a:ea typeface="Calibri"/>
                <a:cs typeface="Calibri"/>
              </a:rPr>
              <a:t> e </a:t>
            </a:r>
            <a:r>
              <a:rPr lang="en-US" sz="1600" dirty="0" err="1">
                <a:solidFill>
                  <a:srgbClr val="1F2430"/>
                </a:solidFill>
                <a:ea typeface="Calibri"/>
                <a:cs typeface="Calibri"/>
              </a:rPr>
              <a:t>perguntas</a:t>
            </a:r>
            <a:r>
              <a:rPr lang="en-US" sz="1600" dirty="0">
                <a:solidFill>
                  <a:srgbClr val="1F2430"/>
                </a:solidFill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1F2430"/>
                </a:solidFill>
                <a:ea typeface="Calibri"/>
                <a:cs typeface="Calibri"/>
              </a:rPr>
              <a:t>centradas</a:t>
            </a:r>
            <a:r>
              <a:rPr lang="en-US" sz="1600" dirty="0">
                <a:solidFill>
                  <a:srgbClr val="1F2430"/>
                </a:solidFill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1F2430"/>
                </a:solidFill>
                <a:ea typeface="Calibri"/>
                <a:cs typeface="Calibri"/>
              </a:rPr>
              <a:t>em</a:t>
            </a:r>
            <a:r>
              <a:rPr lang="en-US" sz="1600" dirty="0">
                <a:solidFill>
                  <a:srgbClr val="1F2430"/>
                </a:solidFill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1F2430"/>
                </a:solidFill>
                <a:ea typeface="Calibri"/>
                <a:cs typeface="Calibri"/>
              </a:rPr>
              <a:t>melhor</a:t>
            </a:r>
            <a:r>
              <a:rPr lang="en-US" sz="1600" dirty="0">
                <a:solidFill>
                  <a:srgbClr val="1F2430"/>
                </a:solidFill>
                <a:ea typeface="Calibri"/>
                <a:cs typeface="Calibri"/>
              </a:rPr>
              <a:t> </a:t>
            </a:r>
            <a:r>
              <a:rPr lang="en-US" sz="1600" dirty="0" err="1">
                <a:solidFill>
                  <a:srgbClr val="1F2430"/>
                </a:solidFill>
                <a:ea typeface="Calibri"/>
                <a:cs typeface="Calibri"/>
              </a:rPr>
              <a:t>período</a:t>
            </a:r>
            <a:r>
              <a:rPr lang="en-US" sz="1600" dirty="0">
                <a:solidFill>
                  <a:srgbClr val="1F2430"/>
                </a:solidFill>
                <a:ea typeface="Calibri"/>
                <a:cs typeface="Calibri"/>
              </a:rPr>
              <a:t> de </a:t>
            </a:r>
            <a:r>
              <a:rPr lang="en-US" sz="1600" dirty="0" err="1">
                <a:solidFill>
                  <a:srgbClr val="1F2430"/>
                </a:solidFill>
                <a:ea typeface="Calibri"/>
                <a:cs typeface="Calibri"/>
              </a:rPr>
              <a:t>compra</a:t>
            </a:r>
            <a:r>
              <a:rPr lang="en-US" sz="1600" dirty="0">
                <a:solidFill>
                  <a:srgbClr val="1F2430"/>
                </a:solidFill>
                <a:ea typeface="Calibri"/>
                <a:cs typeface="Calibri"/>
              </a:rPr>
              <a:t>;</a:t>
            </a:r>
          </a:p>
          <a:p>
            <a:pPr marL="203200" indent="-203200">
              <a:spcAft>
                <a:spcPts val="1500"/>
              </a:spcAft>
              <a:buSzPct val="100000"/>
              <a:buChar char="●"/>
            </a:pPr>
            <a:r>
              <a:rPr lang="en-US" sz="1600" dirty="0" err="1">
                <a:solidFill>
                  <a:srgbClr val="1F2430"/>
                </a:solidFill>
                <a:ea typeface="Calibri"/>
                <a:cs typeface="Calibri"/>
              </a:rPr>
              <a:t>Treinada</a:t>
            </a:r>
            <a:r>
              <a:rPr lang="en-US" sz="1600" dirty="0">
                <a:solidFill>
                  <a:srgbClr val="1F2430"/>
                </a:solidFill>
                <a:ea typeface="Calibri"/>
                <a:cs typeface="Calibri"/>
              </a:rPr>
              <a:t>  a </a:t>
            </a:r>
            <a:r>
              <a:rPr lang="en-US" sz="1600" dirty="0" err="1">
                <a:solidFill>
                  <a:srgbClr val="1F2430"/>
                </a:solidFill>
                <a:ea typeface="Calibri"/>
                <a:cs typeface="Calibri"/>
              </a:rPr>
              <a:t>partir</a:t>
            </a:r>
            <a:r>
              <a:rPr lang="en-US" sz="1600" dirty="0">
                <a:solidFill>
                  <a:srgbClr val="1F2430"/>
                </a:solidFill>
                <a:ea typeface="Calibri"/>
                <a:cs typeface="Calibri"/>
              </a:rPr>
              <a:t> dos </a:t>
            </a:r>
            <a:r>
              <a:rPr lang="en-US" sz="1600" dirty="0" err="1">
                <a:solidFill>
                  <a:srgbClr val="1F2430"/>
                </a:solidFill>
                <a:ea typeface="Calibri"/>
                <a:cs typeface="Calibri"/>
              </a:rPr>
              <a:t>mesmos</a:t>
            </a:r>
            <a:r>
              <a:rPr lang="en-US" sz="1600" dirty="0">
                <a:solidFill>
                  <a:srgbClr val="1F2430"/>
                </a:solidFill>
                <a:ea typeface="Calibri"/>
                <a:cs typeface="Calibri"/>
              </a:rPr>
              <a:t> dados.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B138DF2-810D-586D-921D-54862A26C66E}"/>
              </a:ext>
            </a:extLst>
          </p:cNvPr>
          <p:cNvSpPr/>
          <p:nvPr/>
        </p:nvSpPr>
        <p:spPr>
          <a:xfrm>
            <a:off x="7316746" y="2070432"/>
            <a:ext cx="4160520" cy="2850763"/>
          </a:xfrm>
          <a:prstGeom prst="roundRect">
            <a:avLst>
              <a:gd name="adj" fmla="val 1758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5AE3FB3-DD9C-BE50-F322-61090629570B}"/>
              </a:ext>
            </a:extLst>
          </p:cNvPr>
          <p:cNvSpPr/>
          <p:nvPr/>
        </p:nvSpPr>
        <p:spPr>
          <a:xfrm>
            <a:off x="7591066" y="2388925"/>
            <a:ext cx="502920" cy="502920"/>
          </a:xfrm>
          <a:prstGeom prst="ellipse">
            <a:avLst/>
          </a:prstGeom>
          <a:solidFill>
            <a:srgbClr val="E883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3898FD2-C2BA-2192-4FBA-FB0C3430F588}"/>
              </a:ext>
            </a:extLst>
          </p:cNvPr>
          <p:cNvSpPr txBox="1"/>
          <p:nvPr/>
        </p:nvSpPr>
        <p:spPr>
          <a:xfrm>
            <a:off x="8231146" y="2462077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 err="1">
                <a:solidFill>
                  <a:srgbClr val="FFFFFF"/>
                </a:solidFill>
                <a:latin typeface="Montserrat"/>
              </a:rPr>
              <a:t>Desafio</a:t>
            </a:r>
            <a:r>
              <a:rPr lang="en-US" sz="1350" b="1" dirty="0">
                <a:solidFill>
                  <a:srgbClr val="FFFFFF"/>
                </a:solidFill>
                <a:latin typeface="Montserrat"/>
              </a:rPr>
              <a:t>: </a:t>
            </a:r>
            <a:r>
              <a:rPr lang="en-US" sz="1350" b="1" dirty="0" err="1">
                <a:solidFill>
                  <a:srgbClr val="FFFFFF"/>
                </a:solidFill>
                <a:latin typeface="Montserrat"/>
              </a:rPr>
              <a:t>Tornar</a:t>
            </a:r>
            <a:r>
              <a:rPr lang="en-US" sz="1350" b="1" dirty="0">
                <a:solidFill>
                  <a:srgbClr val="FFFFFF"/>
                </a:solidFill>
                <a:latin typeface="Montserrat"/>
              </a:rPr>
              <a:t> a </a:t>
            </a:r>
            <a:r>
              <a:rPr lang="en-US" sz="1350" b="1" dirty="0" err="1">
                <a:solidFill>
                  <a:srgbClr val="FFFFFF"/>
                </a:solidFill>
                <a:latin typeface="Montserrat"/>
              </a:rPr>
              <a:t>acurácia</a:t>
            </a:r>
            <a:r>
              <a:rPr lang="en-US" sz="1350" b="1" dirty="0">
                <a:solidFill>
                  <a:srgbClr val="FFFFFF"/>
                </a:solidFill>
                <a:latin typeface="Montserrat"/>
              </a:rPr>
              <a:t> 98%</a:t>
            </a:r>
            <a:endParaRPr lang="pt-BR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779EC02-24D3-B719-09DC-CBB1799D64CA}"/>
              </a:ext>
            </a:extLst>
          </p:cNvPr>
          <p:cNvSpPr/>
          <p:nvPr/>
        </p:nvSpPr>
        <p:spPr>
          <a:xfrm>
            <a:off x="7591066" y="4629205"/>
            <a:ext cx="3611880" cy="0"/>
          </a:xfrm>
          <a:prstGeom prst="line">
            <a:avLst/>
          </a:prstGeom>
          <a:noFill/>
          <a:ln w="12700">
            <a:solidFill>
              <a:srgbClr val="132A4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511FD82-2DAB-E5F5-3481-4016EDA57806}"/>
              </a:ext>
            </a:extLst>
          </p:cNvPr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Project EMAP — Desafio BIP x FGV</a:t>
            </a:r>
            <a:endParaRPr lang="en-US" sz="9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FA016C5-B8BF-F587-FC09-FD7F44904A5E}"/>
              </a:ext>
            </a:extLst>
          </p:cNvPr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FC0A05DE-E032-C561-4DEB-BE357D10F1C9}"/>
              </a:ext>
            </a:extLst>
          </p:cNvPr>
          <p:cNvSpPr txBox="1"/>
          <p:nvPr/>
        </p:nvSpPr>
        <p:spPr>
          <a:xfrm>
            <a:off x="7584661" y="3186925"/>
            <a:ext cx="3614973" cy="123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1600" dirty="0">
                <a:solidFill>
                  <a:schemeClr val="bg1"/>
                </a:solidFill>
                <a:ea typeface="Calibri"/>
                <a:cs typeface="Calibri"/>
              </a:rPr>
              <a:t>Aqui </a:t>
            </a:r>
            <a:r>
              <a:rPr lang="en-US" sz="1600" dirty="0" err="1">
                <a:solidFill>
                  <a:schemeClr val="bg1"/>
                </a:solidFill>
                <a:ea typeface="Calibri"/>
                <a:cs typeface="Calibri"/>
              </a:rPr>
              <a:t>entra</a:t>
            </a:r>
            <a:r>
              <a:rPr lang="en-US" sz="1600" dirty="0">
                <a:solidFill>
                  <a:schemeClr val="bg1"/>
                </a:solidFill>
                <a:ea typeface="Calibri"/>
                <a:cs typeface="Calibri"/>
              </a:rPr>
              <a:t> a </a:t>
            </a:r>
            <a:r>
              <a:rPr lang="en-US" sz="1600" dirty="0" err="1">
                <a:solidFill>
                  <a:schemeClr val="bg1"/>
                </a:solidFill>
                <a:ea typeface="Calibri"/>
                <a:cs typeface="Calibri"/>
              </a:rPr>
              <a:t>Estatística</a:t>
            </a:r>
            <a:r>
              <a:rPr lang="en-US" sz="1600" dirty="0">
                <a:solidFill>
                  <a:schemeClr val="bg1"/>
                </a:solidFill>
                <a:ea typeface="Calibri"/>
                <a:cs typeface="Calibri"/>
              </a:rPr>
              <a:t> de </a:t>
            </a:r>
            <a:r>
              <a:rPr lang="en-US" sz="1600" dirty="0" err="1">
                <a:solidFill>
                  <a:schemeClr val="bg1"/>
                </a:solidFill>
                <a:ea typeface="Calibri"/>
                <a:cs typeface="Calibri"/>
              </a:rPr>
              <a:t>acertividade</a:t>
            </a:r>
            <a:r>
              <a:rPr lang="en-US" sz="1600" dirty="0">
                <a:solidFill>
                  <a:schemeClr val="bg1"/>
                </a:solidFill>
                <a:ea typeface="Calibri"/>
                <a:cs typeface="Calibri"/>
              </a:rPr>
              <a:t> do </a:t>
            </a:r>
            <a:r>
              <a:rPr lang="en-US" sz="1600" dirty="0" err="1">
                <a:solidFill>
                  <a:schemeClr val="bg1"/>
                </a:solidFill>
                <a:ea typeface="Calibri"/>
                <a:cs typeface="Calibri"/>
              </a:rPr>
              <a:t>modelo</a:t>
            </a:r>
            <a:r>
              <a:rPr lang="en-US" sz="1600" dirty="0">
                <a:solidFill>
                  <a:schemeClr val="bg1"/>
                </a:solidFill>
                <a:ea typeface="Calibri"/>
                <a:cs typeface="Calibri"/>
              </a:rPr>
              <a:t>;</a:t>
            </a:r>
            <a:endParaRPr lang="pt-BR" dirty="0">
              <a:solidFill>
                <a:schemeClr val="bg1"/>
              </a:solidFill>
              <a:ea typeface="Calibri"/>
              <a:cs typeface="Calibri"/>
            </a:endParaRPr>
          </a:p>
          <a:p>
            <a:pPr marL="203200" indent="-203200"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1600" dirty="0" err="1">
                <a:solidFill>
                  <a:schemeClr val="bg1"/>
                </a:solidFill>
                <a:ea typeface="Calibri"/>
                <a:cs typeface="Calibri"/>
              </a:rPr>
              <a:t>Entender</a:t>
            </a:r>
            <a:r>
              <a:rPr lang="en-US" sz="1600" dirty="0">
                <a:solidFill>
                  <a:schemeClr val="bg1"/>
                </a:solidFill>
                <a:ea typeface="Calibri"/>
                <a:cs typeface="Calibri"/>
              </a:rPr>
              <a:t> a </a:t>
            </a:r>
            <a:r>
              <a:rPr lang="en-US" sz="1600" dirty="0" err="1">
                <a:solidFill>
                  <a:schemeClr val="bg1"/>
                </a:solidFill>
                <a:ea typeface="Calibri"/>
                <a:cs typeface="Calibri"/>
              </a:rPr>
              <a:t>distribuição</a:t>
            </a:r>
            <a:r>
              <a:rPr lang="en-US" sz="1600" dirty="0">
                <a:solidFill>
                  <a:schemeClr val="bg1"/>
                </a:solidFill>
                <a:ea typeface="Calibri"/>
                <a:cs typeface="Calibri"/>
              </a:rPr>
              <a:t> de </a:t>
            </a:r>
            <a:r>
              <a:rPr lang="en-US" sz="1600" dirty="0" err="1">
                <a:solidFill>
                  <a:schemeClr val="bg1"/>
                </a:solidFill>
                <a:ea typeface="Calibri"/>
                <a:cs typeface="Calibri"/>
              </a:rPr>
              <a:t>acertos</a:t>
            </a:r>
            <a:r>
              <a:rPr lang="en-US" sz="1600" dirty="0">
                <a:solidFill>
                  <a:schemeClr val="bg1"/>
                </a:solidFill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7387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DO DESAFIO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</a:t>
            </a:r>
            <a:r>
              <a:rPr lang="en-US" sz="2500" b="1" err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buscamos</a:t>
            </a:r>
            <a:r>
              <a:rPr lang="en-US" sz="25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500" b="1" err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ao</a:t>
            </a:r>
            <a:r>
              <a:rPr lang="en-US" sz="25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500" b="1" err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longo</a:t>
            </a:r>
            <a:r>
              <a:rPr lang="en-US" sz="25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desafio</a:t>
            </a:r>
            <a:endParaRPr lang="en-US" sz="250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deck/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60" y="1894180"/>
            <a:ext cx="372161" cy="3721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013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Catálogo de métricas do ML</a:t>
            </a:r>
            <a:endParaRPr lang="en-US" sz="1300"/>
          </a:p>
        </p:txBody>
      </p:sp>
      <p:sp>
        <p:nvSpPr>
          <p:cNvPr id="8" name="Text 5"/>
          <p:cNvSpPr txBox="1"/>
          <p:nvPr/>
        </p:nvSpPr>
        <p:spPr>
          <a:xfrm>
            <a:off x="868680" y="24688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do modelo de referência em múltiplos conjuntos de teste (treino/validação/holdout), por combustível e região.</a:t>
            </a:r>
            <a:endParaRPr lang="en-US" sz="100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583680" y="182880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/home/claude/deck/icons/robo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060" y="189418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8013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Acurácia inicial da GenAI</a:t>
            </a:r>
            <a:endParaRPr lang="en-US" sz="1300"/>
          </a:p>
        </p:txBody>
      </p:sp>
      <p:sp>
        <p:nvSpPr>
          <p:cNvPr id="13" name="Text 9"/>
          <p:cNvSpPr txBox="1"/>
          <p:nvPr/>
        </p:nvSpPr>
        <p:spPr>
          <a:xfrm>
            <a:off x="6583680" y="24688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em modo zero-shot e few-shot, no mesmo conjunto de teste usado no modelo de ML.</a:t>
            </a:r>
            <a:endParaRPr lang="en-US" sz="1000"/>
          </a:p>
        </p:txBody>
      </p:sp>
      <p:sp>
        <p:nvSpPr>
          <p:cNvPr id="14" name="Shape 10"/>
          <p:cNvSpPr/>
          <p:nvPr/>
        </p:nvSpPr>
        <p:spPr>
          <a:xfrm>
            <a:off x="640080" y="32004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868680" y="342900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/home/claude/deck/icons/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060" y="349438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4015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Quantificação do gap</a:t>
            </a:r>
            <a:endParaRPr lang="en-US" sz="1300"/>
          </a:p>
        </p:txBody>
      </p:sp>
      <p:sp>
        <p:nvSpPr>
          <p:cNvPr id="18" name="Text 13"/>
          <p:cNvSpPr txBox="1"/>
          <p:nvPr/>
        </p:nvSpPr>
        <p:spPr>
          <a:xfrm>
            <a:off x="868680" y="40690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absoluta e relativa de acurácia entre GenAI e ML, segmentada por combustível e por região.</a:t>
            </a:r>
            <a:endParaRPr lang="en-US" sz="1000"/>
          </a:p>
        </p:txBody>
      </p:sp>
      <p:sp>
        <p:nvSpPr>
          <p:cNvPr id="19" name="Shape 14"/>
          <p:cNvSpPr/>
          <p:nvPr/>
        </p:nvSpPr>
        <p:spPr>
          <a:xfrm>
            <a:off x="6355080" y="32004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6583680" y="342900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/home/claude/deck/icons/sear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9060" y="349438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34015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Diagnóstico de erros</a:t>
            </a:r>
            <a:endParaRPr lang="en-US" sz="1300"/>
          </a:p>
        </p:txBody>
      </p:sp>
      <p:sp>
        <p:nvSpPr>
          <p:cNvPr id="23" name="Text 17"/>
          <p:cNvSpPr txBox="1"/>
          <p:nvPr/>
        </p:nvSpPr>
        <p:spPr>
          <a:xfrm>
            <a:off x="6583680" y="40690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causas de erro do modelo generativo (ex.: tributos regionais, preço de insumo desatualizado).</a:t>
            </a:r>
            <a:endParaRPr lang="en-US" sz="1000"/>
          </a:p>
        </p:txBody>
      </p:sp>
      <p:sp>
        <p:nvSpPr>
          <p:cNvPr id="24" name="Shape 18"/>
          <p:cNvSpPr/>
          <p:nvPr/>
        </p:nvSpPr>
        <p:spPr>
          <a:xfrm>
            <a:off x="640080" y="48006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868680" y="502920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4" descr="/home/claude/deck/icons/rout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060" y="5094580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54480" y="5001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Recomendações para a Fase 2</a:t>
            </a:r>
            <a:endParaRPr lang="en-US" sz="1300"/>
          </a:p>
        </p:txBody>
      </p:sp>
      <p:sp>
        <p:nvSpPr>
          <p:cNvPr id="28" name="Text 21"/>
          <p:cNvSpPr txBox="1"/>
          <p:nvPr/>
        </p:nvSpPr>
        <p:spPr>
          <a:xfrm>
            <a:off x="868680" y="56692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Agent Swarm e o Grafo de Conhecimento devem endereçar essas causas de erro.</a:t>
            </a:r>
            <a:endParaRPr lang="en-US" sz="1000"/>
          </a:p>
        </p:txBody>
      </p:sp>
      <p:sp>
        <p:nvSpPr>
          <p:cNvPr id="29" name="Shape 22"/>
          <p:cNvSpPr/>
          <p:nvPr/>
        </p:nvSpPr>
        <p:spPr>
          <a:xfrm>
            <a:off x="6355080" y="48006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3"/>
          <p:cNvSpPr/>
          <p:nvPr/>
        </p:nvSpPr>
        <p:spPr>
          <a:xfrm>
            <a:off x="6583680" y="502920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1" name="Image 5" descr="/home/claude/deck/icons/balanc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9060" y="5094580"/>
            <a:ext cx="372161" cy="37216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269480" y="5001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Leitura econômica adicional</a:t>
            </a:r>
            <a:endParaRPr lang="en-US" sz="1300"/>
          </a:p>
        </p:txBody>
      </p:sp>
      <p:sp>
        <p:nvSpPr>
          <p:cNvPr id="33" name="Text 25"/>
          <p:cNvSpPr txBox="1"/>
          <p:nvPr/>
        </p:nvSpPr>
        <p:spPr>
          <a:xfrm>
            <a:off x="6583680" y="56692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da elasticidade-preço e da substituição etanol-gasolina na explicação dos erros do modelo.</a:t>
            </a:r>
            <a:endParaRPr lang="en-US" sz="1000"/>
          </a:p>
        </p:txBody>
      </p:sp>
      <p:sp>
        <p:nvSpPr>
          <p:cNvPr id="34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Project EMAP — Desafio BIP x FGV</a:t>
            </a:r>
            <a:endParaRPr lang="en-US" sz="900"/>
          </a:p>
        </p:txBody>
      </p:sp>
      <p:sp>
        <p:nvSpPr>
          <p:cNvPr id="35" name="Text 27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E8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err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Métricas</a:t>
            </a:r>
            <a:r>
              <a:rPr lang="en-US" sz="30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3000" b="1" err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serem</a:t>
            </a:r>
            <a:r>
              <a:rPr lang="en-US" sz="300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000" b="1" err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analisadas</a:t>
            </a:r>
            <a:endParaRPr lang="en-US" sz="300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Métricas de sucesso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deck/icons/bulls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2025396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993557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(MAPE/RMSE)</a:t>
            </a:r>
            <a:endParaRPr lang="en-US" sz="2000"/>
          </a:p>
        </p:txBody>
      </p:sp>
      <p:sp>
        <p:nvSpPr>
          <p:cNvPr id="8" name="Text 5"/>
          <p:cNvSpPr txBox="1"/>
          <p:nvPr/>
        </p:nvSpPr>
        <p:spPr>
          <a:xfrm>
            <a:off x="1234440" y="2212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previsto vs. preço real, ML e GenAI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640080" y="289864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/home/claude/deck/icon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2958084"/>
            <a:ext cx="338328" cy="3383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2880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ML x GenAI</a:t>
            </a:r>
            <a:endParaRPr lang="en-US" sz="2000"/>
          </a:p>
        </p:txBody>
      </p:sp>
      <p:sp>
        <p:nvSpPr>
          <p:cNvPr id="12" name="Text 8"/>
          <p:cNvSpPr txBox="1"/>
          <p:nvPr/>
        </p:nvSpPr>
        <p:spPr>
          <a:xfrm>
            <a:off x="1234440" y="31455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gap de acurácia a cada fase</a:t>
            </a:r>
            <a:endParaRPr lang="en-US" sz="1200"/>
          </a:p>
        </p:txBody>
      </p:sp>
      <p:sp>
        <p:nvSpPr>
          <p:cNvPr id="13" name="Shape 9"/>
          <p:cNvSpPr/>
          <p:nvPr/>
        </p:nvSpPr>
        <p:spPr>
          <a:xfrm>
            <a:off x="640080" y="3831336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/home/claude/deck/icons/coin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3890772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34440" y="3813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inferência</a:t>
            </a:r>
            <a:endParaRPr lang="en-US" sz="2000"/>
          </a:p>
        </p:txBody>
      </p:sp>
      <p:sp>
        <p:nvSpPr>
          <p:cNvPr id="16" name="Text 11"/>
          <p:cNvSpPr txBox="1"/>
          <p:nvPr/>
        </p:nvSpPr>
        <p:spPr>
          <a:xfrm>
            <a:off x="1234440" y="40782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por 1.000 previsões, em tokens</a:t>
            </a:r>
            <a:endParaRPr lang="en-US" sz="1200"/>
          </a:p>
        </p:txBody>
      </p:sp>
      <p:sp>
        <p:nvSpPr>
          <p:cNvPr id="17" name="Shape 12"/>
          <p:cNvSpPr/>
          <p:nvPr/>
        </p:nvSpPr>
        <p:spPr>
          <a:xfrm>
            <a:off x="640080" y="4764024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3" descr="/home/claude/deck/icons/bol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4823460"/>
            <a:ext cx="338328" cy="33832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4745736"/>
            <a:ext cx="526551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(P50 / P95)</a:t>
            </a:r>
            <a:endParaRPr lang="en-US" sz="2000"/>
          </a:p>
        </p:txBody>
      </p:sp>
      <p:sp>
        <p:nvSpPr>
          <p:cNvPr id="20" name="Text 14"/>
          <p:cNvSpPr txBox="1"/>
          <p:nvPr/>
        </p:nvSpPr>
        <p:spPr>
          <a:xfrm>
            <a:off x="1234440" y="50109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resposta em produção</a:t>
            </a:r>
            <a:endParaRPr lang="en-US" sz="1200"/>
          </a:p>
        </p:txBody>
      </p:sp>
      <p:sp>
        <p:nvSpPr>
          <p:cNvPr id="25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Project EMAP — Desafio BIP x FGV</a:t>
            </a:r>
            <a:endParaRPr lang="en-US" sz="900"/>
          </a:p>
        </p:txBody>
      </p:sp>
      <p:sp>
        <p:nvSpPr>
          <p:cNvPr id="26" name="Text 20"/>
          <p:cNvSpPr txBox="1"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1880</Words>
  <Application>Microsoft Office PowerPoint</Application>
  <PresentationFormat>Widescreen</PresentationFormat>
  <Paragraphs>253</Paragraphs>
  <Slides>15</Slides>
  <Notes>13</Notes>
  <HiddenSlides>1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Montserrat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FGV x BIP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Generativa vs. Machine Learning Otimizado — Precificação de Combustíveis</dc:title>
  <dc:subject>PptxGenJS Presentation</dc:subject>
  <dc:creator>Field Project EMAP</dc:creator>
  <cp:lastModifiedBy>Lucas Gabriel de Oliveira</cp:lastModifiedBy>
  <cp:revision>125</cp:revision>
  <dcterms:created xsi:type="dcterms:W3CDTF">2026-09-04T02:14:47Z</dcterms:created>
  <dcterms:modified xsi:type="dcterms:W3CDTF">2026-10-02T13:23:17Z</dcterms:modified>
</cp:coreProperties>
</file>